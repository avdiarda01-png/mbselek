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5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8E29D2-3A41-4D49-9097-07EE4F26569E}" v="1191" dt="2025-12-10T01:15:25.0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5" autoAdjust="0"/>
    <p:restoredTop sz="94660"/>
  </p:normalViewPr>
  <p:slideViewPr>
    <p:cSldViewPr snapToGrid="0">
      <p:cViewPr varScale="1">
        <p:scale>
          <a:sx n="86" d="100"/>
          <a:sy n="86" d="100"/>
        </p:scale>
        <p:origin x="66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1E8A1-6DA8-4496-BCE8-03ED561CC4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365760"/>
            <a:ext cx="10515600" cy="2890202"/>
          </a:xfrm>
        </p:spPr>
        <p:txBody>
          <a:bodyPr anchor="b">
            <a:normAutofit/>
          </a:bodyPr>
          <a:lstStyle>
            <a:lvl1pPr algn="l"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B24CCC-3D44-4BB5-AA35-A21607EF69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506150"/>
            <a:ext cx="10515600" cy="2483488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1F80F6-1855-44E9-BA95-5E00A06E7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766A6-3C10-4AB8-86A1-BB1F0CDA7EFE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3D7FFD-570A-4968-B943-AF87BB679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CE6A8-0665-4714-B241-6AFBA8C6F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60201-1C40-4B39-813D-5CD9493BA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094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2A8A8-ECDA-4018-ABB4-CC22892BE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90AE7C-51AF-4F0E-B5A3-8C7E1026C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F28C09-A717-49AB-B60E-433BC4692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766A6-3C10-4AB8-86A1-BB1F0CDA7EFE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11A47A-6E5A-4754-8B43-9CE556160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ACA1EB-7AC7-4F86-90C0-AA980D887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60201-1C40-4B39-813D-5CD9493BA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3376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95957-C46F-4F17-BC8C-6507E676E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65760"/>
            <a:ext cx="10515600" cy="382786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D9661B-6633-4C8B-8B9C-E514DF851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43817"/>
            <a:ext cx="10515600" cy="1645834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6274BF-C1CD-4709-B0A0-E9407DBEA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766A6-3C10-4AB8-86A1-BB1F0CDA7EFE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9ADB94-0A5B-4B56-B0B1-1FF5580A4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CA668A-35AE-4CDF-AC4C-2BEEA9EE8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60201-1C40-4B39-813D-5CD9493BA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3584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7F1FD-0E96-4963-9F09-92861572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9E5F0-B650-4AFF-B90E-23B378684D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940876"/>
            <a:ext cx="5181600" cy="42360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D1747B-302D-476E-8F4F-E4B114C662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40876"/>
            <a:ext cx="5181600" cy="42360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0577D-22F7-4958-BB3D-6C9265EA1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766A6-3C10-4AB8-86A1-BB1F0CDA7EFE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EC5B46-A8FB-4683-9618-3F6E07383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7887BD-93E9-4181-9D7F-940C3E173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60201-1C40-4B39-813D-5CD9493BA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098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63D79-FA27-4567-9032-AF722733E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77C1BF-703F-4992-BB0C-EB1E579C74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951823"/>
            <a:ext cx="5157787" cy="823912"/>
          </a:xfrm>
        </p:spPr>
        <p:txBody>
          <a:bodyPr anchor="b"/>
          <a:lstStyle>
            <a:lvl1pPr marL="0" indent="0">
              <a:buNone/>
              <a:defRPr lang="en-US" sz="2400" b="0" i="1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B2FCE1-6DC0-43B5-8016-89FD4AF5AB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54741"/>
            <a:ext cx="5157787" cy="32349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FED7A-67D0-43CC-889A-25F8849647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51823"/>
            <a:ext cx="5183188" cy="823912"/>
          </a:xfrm>
        </p:spPr>
        <p:txBody>
          <a:bodyPr anchor="b"/>
          <a:lstStyle>
            <a:lvl1pPr marL="0" indent="0">
              <a:buNone/>
              <a:defRPr lang="en-US" sz="2400" b="0" i="1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31C176-48F2-44EC-B3A2-A144403D57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54741"/>
            <a:ext cx="5183188" cy="32349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9187B8-AC48-4FE7-8658-8A31E3731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766A6-3C10-4AB8-86A1-BB1F0CDA7EFE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CAB465-E22E-45DC-89C9-406121BCE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F9D1CF-F964-4405-8677-5F9E2A028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60201-1C40-4B39-813D-5CD9493BA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7408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A3453-DD0F-41C0-8F4A-5DC343F5E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4E6313-506F-4456-B3D9-D9655538F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766A6-3C10-4AB8-86A1-BB1F0CDA7EFE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F26068-7707-41EC-93EF-A24CAF8FF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9C8A3C-8C01-4039-B47B-57D849758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60201-1C40-4B39-813D-5CD9493BA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820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892633-8C77-419D-B24D-2B3D44DBA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766A6-3C10-4AB8-86A1-BB1F0CDA7EFE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149D59-0A88-4A14-A740-4CCD9B526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A3DEF9-802F-444E-92D2-397862EEA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60201-1C40-4B39-813D-5CD9493BA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7098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23C20-3881-4F15-94F7-9D7B9F9E3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4343400" cy="2971800"/>
          </a:xfrm>
        </p:spPr>
        <p:txBody>
          <a:bodyPr anchor="b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kern="1200" dirty="0">
                <a:gradFill>
                  <a:gsLst>
                    <a:gs pos="100000">
                      <a:schemeClr val="tx2"/>
                    </a:gs>
                    <a:gs pos="0">
                      <a:schemeClr val="accent1"/>
                    </a:gs>
                  </a:gsLst>
                  <a:lin ang="0" scaled="1"/>
                </a:gradFill>
                <a:latin typeface="Aharoni" panose="02010803020104030203" pitchFamily="2" charset="-79"/>
                <a:ea typeface="+mn-ea"/>
                <a:cs typeface="Angsana New" panose="02020603050405020304" pitchFamily="18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8F40F-6C2A-48EC-8F16-DA179A1DA3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4638" y="457201"/>
            <a:ext cx="5800749" cy="540385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736B7E-D33D-48C7-97AC-5C0D9874FE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657600"/>
            <a:ext cx="4343400" cy="2211387"/>
          </a:xfrm>
        </p:spPr>
        <p:txBody>
          <a:bodyPr>
            <a:normAutofit/>
          </a:bodyPr>
          <a:lstStyle>
            <a:lvl1pPr marL="0" indent="0">
              <a:buNone/>
              <a:defRPr lang="en-US" sz="2400" i="1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149BC5-FF58-463A-B4FA-F0F912F12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766A6-3C10-4AB8-86A1-BB1F0CDA7EFE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7072D7-4A2A-407F-A084-6AE8DD001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D4C41C-C368-475C-BDC1-DC5B29C78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60201-1C40-4B39-813D-5CD9493BA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996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F67B0-865B-44ED-9DFE-36C73B0C8B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4343400" cy="2971800"/>
          </a:xfrm>
        </p:spPr>
        <p:txBody>
          <a:bodyPr anchor="b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kern="1200" dirty="0">
                <a:gradFill>
                  <a:gsLst>
                    <a:gs pos="100000">
                      <a:schemeClr val="tx2"/>
                    </a:gs>
                    <a:gs pos="0">
                      <a:schemeClr val="accent1"/>
                    </a:gs>
                  </a:gsLst>
                  <a:lin ang="0" scaled="1"/>
                </a:gradFill>
                <a:latin typeface="Aharoni" panose="02010803020104030203" pitchFamily="2" charset="-79"/>
                <a:ea typeface="+mn-ea"/>
                <a:cs typeface="Angsana New" panose="02020603050405020304" pitchFamily="18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3C5CF7-138A-437C-9E0A-FF41799703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61462" y="457201"/>
            <a:ext cx="5793925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117822-7770-4117-96A2-8D2FF0A010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664424"/>
            <a:ext cx="4343400" cy="2204564"/>
          </a:xfrm>
        </p:spPr>
        <p:txBody>
          <a:bodyPr>
            <a:normAutofit/>
          </a:bodyPr>
          <a:lstStyle>
            <a:lvl1pPr marL="0" indent="0">
              <a:buNone/>
              <a:defRPr lang="en-US" sz="2400" i="1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295030-39C7-4814-A766-1A3E094EB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766A6-3C10-4AB8-86A1-BB1F0CDA7EFE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1F02CD-DC87-47B6-96C4-F6470B1D8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CFF531-02C2-4C1D-A692-704037806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60201-1C40-4B39-813D-5CD9493BA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838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926EC-DC54-4882-9D58-F201EA25C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804E7C-4CBA-49AF-B24C-1A1FF51C21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D3C727-C0C7-4BBA-9CF5-6C1FAC76B1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766A6-3C10-4AB8-86A1-BB1F0CDA7EFE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603986-C5B4-4956-AC6F-4F36186B8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5F941-E847-4C51-97D6-21066B26E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60201-1C40-4B39-813D-5CD9493BA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714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0338D2-D9EE-4B67-97C1-08ABD57453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353848" y="365125"/>
            <a:ext cx="3999952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4B1422-6C1E-4422-80E8-34B0092FBF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626546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8B53C-3084-4BC0-A80E-DB41C04C6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766A6-3C10-4AB8-86A1-BB1F0CDA7EFE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6BFDE-DC70-4A6E-90B8-337FC4725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3578F-39AE-4F6F-9614-32EF672E6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60201-1C40-4B39-813D-5CD9493BA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817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6818BD-D734-48A1-8CC0-609D11E55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9D215A-D2A1-4903-A905-F8B06EF41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940875"/>
            <a:ext cx="10515600" cy="42360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42B88A-7A1D-4AA1-8536-28DC13DBA5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2766A6-3C10-4AB8-86A1-BB1F0CDA7EFE}" type="datetimeFigureOut">
              <a:rPr lang="en-US" smtClean="0"/>
              <a:pPr/>
              <a:t>12/9/2025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7FE925-0C4B-4BAE-9799-3A9D46D92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ADAD54-E5C5-4D48-8592-BB22F0A85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060201-1C40-4B39-813D-5CD9493BAEE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513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18" r:id="rId6"/>
    <p:sldLayoutId id="2147483714" r:id="rId7"/>
    <p:sldLayoutId id="2147483715" r:id="rId8"/>
    <p:sldLayoutId id="2147483716" r:id="rId9"/>
    <p:sldLayoutId id="2147483717" r:id="rId10"/>
    <p:sldLayoutId id="2147483719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5400" kern="1200" smtClean="0">
          <a:gradFill>
            <a:gsLst>
              <a:gs pos="100000">
                <a:schemeClr val="tx2"/>
              </a:gs>
              <a:gs pos="0">
                <a:schemeClr val="accent1"/>
              </a:gs>
            </a:gsLst>
            <a:lin ang="0" scaled="1"/>
          </a:gradFill>
          <a:latin typeface="Aharoni" panose="02010803020104030203" pitchFamily="2" charset="-79"/>
          <a:ea typeface="+mn-ea"/>
          <a:cs typeface="Angsana New" panose="02020603050405020304" pitchFamily="18" charset="-34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enes-akag%C3%BCnd%C3%BCz-153682213/" TargetMode="External"/><Relationship Id="rId2" Type="http://schemas.openxmlformats.org/officeDocument/2006/relationships/hyperlink" Target="mailto:enesakagunduz1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enesakagunduz1-creat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971EA19-53E1-4266-92EF-0DEF65CB7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Başlık 1"/>
          <p:cNvSpPr>
            <a:spLocks noGrp="1"/>
          </p:cNvSpPr>
          <p:nvPr>
            <p:ph type="ctrTitle"/>
          </p:nvPr>
        </p:nvSpPr>
        <p:spPr>
          <a:xfrm>
            <a:off x="838200" y="1296649"/>
            <a:ext cx="7743669" cy="3402767"/>
          </a:xfrm>
        </p:spPr>
        <p:txBody>
          <a:bodyPr>
            <a:normAutofit/>
          </a:bodyPr>
          <a:lstStyle/>
          <a:p>
            <a:r>
              <a:rPr lang="tr-TR" dirty="0"/>
              <a:t>ERKEN ARIZA TESPIT</a:t>
            </a:r>
          </a:p>
        </p:txBody>
      </p:sp>
      <p:sp>
        <p:nvSpPr>
          <p:cNvPr id="3" name="Alt Başlık 2"/>
          <p:cNvSpPr>
            <a:spLocks noGrp="1"/>
          </p:cNvSpPr>
          <p:nvPr>
            <p:ph type="subTitle" idx="1"/>
          </p:nvPr>
        </p:nvSpPr>
        <p:spPr>
          <a:xfrm>
            <a:off x="838200" y="5254052"/>
            <a:ext cx="6301994" cy="918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tr-TR" dirty="0">
                <a:ea typeface="+mn-lt"/>
                <a:cs typeface="+mn-lt"/>
              </a:rPr>
              <a:t>Endüstriyel Duruş Sürelerine Karşı  </a:t>
            </a:r>
            <a:r>
              <a:rPr lang="tr-TR" b="1" dirty="0">
                <a:ea typeface="+mn-lt"/>
                <a:cs typeface="+mn-lt"/>
              </a:rPr>
              <a:t>Düşük Maliyetli Çözüm                             </a:t>
            </a:r>
            <a:endParaRPr lang="tr-TR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74425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8">
            <a:extLst>
              <a:ext uri="{FF2B5EF4-FFF2-40B4-BE49-F238E27FC236}">
                <a16:creationId xmlns:a16="http://schemas.microsoft.com/office/drawing/2014/main" id="{368F9D89-54B8-41F8-8839-49992D6458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B66A1341-E28E-43FF-1726-245ECE408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5800"/>
            <a:ext cx="5257800" cy="227548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tr-TR" sz="4200">
                <a:latin typeface="Aharoni"/>
                <a:cs typeface="Aharoni"/>
              </a:rPr>
              <a:t>Kestirimci Bakımın Ulaşılmaz Maliyeti</a:t>
            </a:r>
            <a:endParaRPr lang="tr-TR" sz="4200">
              <a:latin typeface="Aharoni"/>
            </a:endParaRP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F5DAA93D-19B9-D9C4-F05A-A7E1923F97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3319796"/>
            <a:ext cx="5257799" cy="2852404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tr-TR"/>
              <a:t>"Profesyonel çözümlerin astronomik fiyatları, projemizin odaklandığı </a:t>
            </a:r>
            <a:r>
              <a:rPr lang="tr-TR" b="1"/>
              <a:t>KOBİ'lerin</a:t>
            </a:r>
            <a:r>
              <a:rPr lang="tr-TR"/>
              <a:t> arıza tespiti yapmasını imkansız kılıyor."</a:t>
            </a:r>
          </a:p>
          <a:p>
            <a:pPr>
              <a:lnSpc>
                <a:spcPct val="100000"/>
              </a:lnSpc>
            </a:pPr>
            <a:r>
              <a:rPr lang="tr-TR"/>
              <a:t>"Bu durum, arızayı önleyememekten dolayı, tek bir makinenin duruşuyla yüz binlerce liralık kayıp riskini beraberinde getiriyor. </a:t>
            </a:r>
            <a:r>
              <a:rPr lang="tr-TR" b="1"/>
              <a:t>Biz bu bariyeri yıkıyoruz.</a:t>
            </a:r>
            <a:r>
              <a:rPr lang="tr-TR"/>
              <a:t>"</a:t>
            </a:r>
          </a:p>
        </p:txBody>
      </p:sp>
      <p:pic>
        <p:nvPicPr>
          <p:cNvPr id="4" name="Resim 3" descr="Yapay Zekâ ile KOBİ'lerde Verimlilik ve Tasarruf - Kobi Asistan">
            <a:extLst>
              <a:ext uri="{FF2B5EF4-FFF2-40B4-BE49-F238E27FC236}">
                <a16:creationId xmlns:a16="http://schemas.microsoft.com/office/drawing/2014/main" id="{4B0D8E4D-D0B1-31DD-87D4-C245216412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2889" y="1944910"/>
            <a:ext cx="4925879" cy="2967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099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8">
            <a:extLst>
              <a:ext uri="{FF2B5EF4-FFF2-40B4-BE49-F238E27FC236}">
                <a16:creationId xmlns:a16="http://schemas.microsoft.com/office/drawing/2014/main" id="{368F9D89-54B8-41F8-8839-49992D6458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A26186BE-2A96-0DE9-508E-DB8BA1887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5800"/>
            <a:ext cx="5257800" cy="227548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tr-TR" sz="5000">
                <a:cs typeface="Aharoni"/>
              </a:rPr>
              <a:t>RMS Analizi ve Anında SMS Alarmı</a:t>
            </a:r>
            <a:endParaRPr lang="tr-TR" sz="500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208DD2C-89FB-DA08-295D-36925A6DB9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3319796"/>
            <a:ext cx="5257799" cy="2852404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lnSpc>
                <a:spcPct val="100000"/>
              </a:lnSpc>
            </a:pPr>
            <a:r>
              <a:rPr lang="tr-TR" sz="1700">
                <a:ea typeface="+mn-lt"/>
                <a:cs typeface="+mn-lt"/>
              </a:rPr>
              <a:t>"Projemiz, sadece bir sensör okuması değil, titreşimin gerçek şiddetini gösteren </a:t>
            </a:r>
            <a:r>
              <a:rPr lang="tr-TR" sz="1700" b="1">
                <a:ea typeface="+mn-lt"/>
                <a:cs typeface="+mn-lt"/>
              </a:rPr>
              <a:t>endüstriyel RMS</a:t>
            </a:r>
            <a:r>
              <a:rPr lang="tr-TR" sz="1700">
                <a:ea typeface="+mn-lt"/>
                <a:cs typeface="+mn-lt"/>
              </a:rPr>
              <a:t> metodolojisini kullanır."</a:t>
            </a:r>
            <a:endParaRPr lang="tr-TR" sz="1700"/>
          </a:p>
          <a:p>
            <a:pPr>
              <a:lnSpc>
                <a:spcPct val="100000"/>
              </a:lnSpc>
            </a:pPr>
            <a:r>
              <a:rPr lang="tr-TR" sz="1700">
                <a:ea typeface="+mn-lt"/>
                <a:cs typeface="+mn-lt"/>
              </a:rPr>
              <a:t>"Bu analiz sayesinde, arıza tehlikesi </a:t>
            </a:r>
            <a:r>
              <a:rPr lang="tr-TR" sz="1700" b="1">
                <a:ea typeface="+mn-lt"/>
                <a:cs typeface="+mn-lt"/>
              </a:rPr>
              <a:t>7000.0</a:t>
            </a:r>
            <a:r>
              <a:rPr lang="tr-TR" sz="1700">
                <a:ea typeface="+mn-lt"/>
                <a:cs typeface="+mn-lt"/>
              </a:rPr>
              <a:t> eşiğine ulaştığı anda, </a:t>
            </a:r>
            <a:r>
              <a:rPr lang="tr-TR" sz="1700" b="1">
                <a:ea typeface="+mn-lt"/>
                <a:cs typeface="+mn-lt"/>
              </a:rPr>
              <a:t>SIM800L</a:t>
            </a:r>
            <a:r>
              <a:rPr lang="tr-TR" sz="1700">
                <a:ea typeface="+mn-lt"/>
                <a:cs typeface="+mn-lt"/>
              </a:rPr>
              <a:t> modülü ile internet bağımlılığı olmadan anında uyarı gönderilir."</a:t>
            </a:r>
            <a:endParaRPr lang="tr-TR" sz="1700"/>
          </a:p>
          <a:p>
            <a:pPr>
              <a:lnSpc>
                <a:spcPct val="100000"/>
              </a:lnSpc>
            </a:pPr>
            <a:r>
              <a:rPr lang="tr-TR" sz="1700"/>
              <a:t>Şekil 1.0 da devre şemasında detaylı görüntüsü vardır.</a:t>
            </a:r>
          </a:p>
          <a:p>
            <a:pPr>
              <a:lnSpc>
                <a:spcPct val="100000"/>
              </a:lnSpc>
            </a:pPr>
            <a:endParaRPr lang="tr-TR" sz="1700"/>
          </a:p>
        </p:txBody>
      </p:sp>
      <p:pic>
        <p:nvPicPr>
          <p:cNvPr id="4" name="Resim 3" descr="metin, ekran görüntüsü, yazı tipi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7BBC007B-78DC-2CD8-37F0-B3B1F0E39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1757" y="596644"/>
            <a:ext cx="4588143" cy="5664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56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AF58097-039B-AB03-5D2E-19D5E304E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9A3584D2-29B2-7C58-6AD2-10E91EA0D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6994" y="2624434"/>
            <a:ext cx="10515600" cy="4236087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endParaRPr lang="tr-TR" dirty="0"/>
          </a:p>
          <a:p>
            <a:endParaRPr lang="tr-TR" dirty="0"/>
          </a:p>
          <a:p>
            <a:endParaRPr lang="tr-TR" dirty="0"/>
          </a:p>
          <a:p>
            <a:endParaRPr lang="tr-TR" dirty="0"/>
          </a:p>
          <a:p>
            <a:endParaRPr lang="tr-TR" dirty="0"/>
          </a:p>
          <a:p>
            <a:endParaRPr lang="tr-TR" dirty="0"/>
          </a:p>
          <a:p>
            <a:endParaRPr lang="tr-TR" dirty="0"/>
          </a:p>
          <a:p>
            <a:endParaRPr lang="tr-TR" dirty="0"/>
          </a:p>
          <a:p>
            <a:endParaRPr lang="tr-TR" dirty="0"/>
          </a:p>
          <a:p>
            <a:r>
              <a:rPr lang="tr-TR" dirty="0"/>
              <a:t>                                                               Şekil 1.0</a:t>
            </a:r>
          </a:p>
        </p:txBody>
      </p:sp>
      <p:pic>
        <p:nvPicPr>
          <p:cNvPr id="7" name="Resim 6" descr="Ekran görüntüsü 2025-10-13 193316.png">
            <a:extLst>
              <a:ext uri="{FF2B5EF4-FFF2-40B4-BE49-F238E27FC236}">
                <a16:creationId xmlns:a16="http://schemas.microsoft.com/office/drawing/2014/main" id="{61B54DAC-5E9F-10B3-D4D8-5D097C0038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873" y="533400"/>
            <a:ext cx="10540254" cy="5130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707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E558EE3-9343-C391-35D8-C2FBE26CC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tr-TR" dirty="0">
                <a:gradFill>
                  <a:gsLst>
                    <a:gs pos="0">
                      <a:srgbClr val="00BAC8"/>
                    </a:gs>
                    <a:gs pos="100000">
                      <a:srgbClr val="203040"/>
                    </a:gs>
                  </a:gsLst>
                  <a:lin ang="0" scaled="1"/>
                </a:gradFill>
                <a:cs typeface="Aharoni"/>
              </a:rPr>
              <a:t>DRAMATİK FİYAT AVANTAJI ve Teknik Üstünlük</a:t>
            </a:r>
            <a:endParaRPr lang="tr-TR" dirty="0">
              <a:gradFill>
                <a:gsLst>
                  <a:gs pos="0">
                    <a:srgbClr val="00BAC8"/>
                  </a:gs>
                  <a:gs pos="100000">
                    <a:srgbClr val="203040"/>
                  </a:gs>
                </a:gsLst>
                <a:lin ang="0" scaled="1"/>
              </a:gradFill>
            </a:endParaRP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62D32C20-3654-A0FC-F294-8CDF5F0390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/>
            <a:r>
              <a:rPr lang="tr-TR" dirty="0">
                <a:ea typeface="+mn-lt"/>
                <a:cs typeface="+mn-lt"/>
              </a:rPr>
              <a:t>Bu projenin en büyük farkı, fonksiyonelliği feda etmeden </a:t>
            </a:r>
            <a:r>
              <a:rPr lang="tr-TR" b="1" dirty="0">
                <a:ea typeface="+mn-lt"/>
                <a:cs typeface="+mn-lt"/>
              </a:rPr>
              <a:t>maliyeti neredeyse sıfıra indirmemizdir.</a:t>
            </a:r>
            <a:r>
              <a:rPr lang="tr-TR" dirty="0">
                <a:ea typeface="+mn-lt"/>
                <a:cs typeface="+mn-lt"/>
              </a:rPr>
              <a:t> Prototip aşamasında bile bileşen maliyetleri, rakip endüstriyel çözümlere göre </a:t>
            </a:r>
            <a:r>
              <a:rPr lang="tr-TR" b="1" dirty="0">
                <a:ea typeface="+mn-lt"/>
                <a:cs typeface="+mn-lt"/>
              </a:rPr>
              <a:t>dramatik ölçüde</a:t>
            </a:r>
            <a:r>
              <a:rPr lang="tr-TR" dirty="0">
                <a:ea typeface="+mn-lt"/>
                <a:cs typeface="+mn-lt"/>
              </a:rPr>
              <a:t> düşüktür.</a:t>
            </a:r>
            <a:endParaRPr lang="tr-TR" dirty="0"/>
          </a:p>
          <a:p>
            <a:r>
              <a:rPr lang="tr-TR" dirty="0">
                <a:ea typeface="+mn-lt"/>
                <a:cs typeface="+mn-lt"/>
              </a:rPr>
              <a:t>Bu düşük maliyeti, </a:t>
            </a:r>
            <a:r>
              <a:rPr lang="tr-TR" b="1" dirty="0">
                <a:ea typeface="+mn-lt"/>
                <a:cs typeface="+mn-lt"/>
              </a:rPr>
              <a:t>LM2596</a:t>
            </a:r>
            <a:r>
              <a:rPr lang="tr-TR" dirty="0">
                <a:ea typeface="+mn-lt"/>
                <a:cs typeface="+mn-lt"/>
              </a:rPr>
              <a:t> gibi kritik teknik detaylarla birleştirerek, projemizin kararlı ve ticari potansiyeli yüksek olduğunu kanıtlıyoruz.</a:t>
            </a:r>
            <a:endParaRPr lang="tr-TR" dirty="0"/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978661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8">
            <a:extLst>
              <a:ext uri="{FF2B5EF4-FFF2-40B4-BE49-F238E27FC236}">
                <a16:creationId xmlns:a16="http://schemas.microsoft.com/office/drawing/2014/main" id="{FB869131-809F-4714-9B05-385CAF009A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90B81D84-3E04-D7A4-70B2-4E0D74C45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7284" y="506705"/>
            <a:ext cx="4988916" cy="2888685"/>
          </a:xfrm>
        </p:spPr>
        <p:txBody>
          <a:bodyPr anchor="b">
            <a:normAutofit/>
          </a:bodyPr>
          <a:lstStyle/>
          <a:p>
            <a:r>
              <a:rPr lang="tr-TR" dirty="0">
                <a:gradFill>
                  <a:gsLst>
                    <a:gs pos="0">
                      <a:srgbClr val="00BAC8"/>
                    </a:gs>
                    <a:gs pos="100000">
                      <a:srgbClr val="203040"/>
                    </a:gs>
                  </a:gsLst>
                  <a:lin ang="0" scaled="1"/>
                </a:gradFill>
                <a:latin typeface="Aharoni"/>
                <a:cs typeface="Angsana New"/>
              </a:rPr>
              <a:t>Neden sadece titreşimi baz alıyoruz?</a:t>
            </a:r>
            <a:endParaRPr lang="tr-TR" dirty="0">
              <a:gradFill>
                <a:gsLst>
                  <a:gs pos="0">
                    <a:srgbClr val="00BAC8"/>
                  </a:gs>
                  <a:gs pos="100000">
                    <a:srgbClr val="203040"/>
                  </a:gs>
                </a:gsLst>
                <a:lin ang="0" scaled="1"/>
              </a:gradFill>
            </a:endParaRP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7A892F4-2B46-08F8-8136-2F973AD2F7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50145" y="3564412"/>
            <a:ext cx="4156055" cy="2696944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lnSpc>
                <a:spcPct val="100000"/>
              </a:lnSpc>
            </a:pPr>
            <a:r>
              <a:rPr lang="tr-TR" sz="1600">
                <a:ea typeface="+mn-lt"/>
                <a:cs typeface="+mn-lt"/>
              </a:rPr>
              <a:t>"Bizim için önemli olan şey, arızanın kesin nedeni (rulman mı, balans mı?) değil, </a:t>
            </a:r>
            <a:r>
              <a:rPr lang="tr-TR" sz="1600" b="1">
                <a:ea typeface="+mn-lt"/>
                <a:cs typeface="+mn-lt"/>
              </a:rPr>
              <a:t>arızanın </a:t>
            </a:r>
            <a:r>
              <a:rPr lang="tr-TR" sz="1600" b="1" err="1">
                <a:ea typeface="+mn-lt"/>
                <a:cs typeface="+mn-lt"/>
              </a:rPr>
              <a:t>VARLIĞI</a:t>
            </a:r>
            <a:r>
              <a:rPr lang="tr-TR" sz="1600" err="1">
                <a:ea typeface="+mn-lt"/>
                <a:cs typeface="+mn-lt"/>
              </a:rPr>
              <a:t>'dır</a:t>
            </a:r>
            <a:r>
              <a:rPr lang="tr-TR" sz="1600">
                <a:ea typeface="+mn-lt"/>
                <a:cs typeface="+mn-lt"/>
              </a:rPr>
              <a:t>. </a:t>
            </a:r>
            <a:r>
              <a:rPr lang="tr-TR" sz="1600" b="1">
                <a:ea typeface="+mn-lt"/>
                <a:cs typeface="+mn-lt"/>
              </a:rPr>
              <a:t>RMS, titreşimin toplam enerji miktarını</a:t>
            </a:r>
            <a:r>
              <a:rPr lang="tr-TR" sz="1600">
                <a:ea typeface="+mn-lt"/>
                <a:cs typeface="+mn-lt"/>
              </a:rPr>
              <a:t> ölçtüğü için, erken uyarı sistemi (EWS) için bilimsel olarak yeterli ve en hızlı yöntemdir."</a:t>
            </a:r>
            <a:endParaRPr lang="tr-TR" sz="1600"/>
          </a:p>
          <a:p>
            <a:pPr>
              <a:lnSpc>
                <a:spcPct val="100000"/>
              </a:lnSpc>
            </a:pPr>
            <a:r>
              <a:rPr lang="tr-TR" sz="1600">
                <a:ea typeface="+mn-lt"/>
                <a:cs typeface="+mn-lt"/>
              </a:rPr>
              <a:t>"Bu odaklanma sayesinde, </a:t>
            </a:r>
            <a:r>
              <a:rPr lang="tr-TR" sz="1600" b="1">
                <a:ea typeface="+mn-lt"/>
                <a:cs typeface="+mn-lt"/>
              </a:rPr>
              <a:t>maliyeti dramatik ölçüde</a:t>
            </a:r>
            <a:r>
              <a:rPr lang="tr-TR" sz="1600">
                <a:ea typeface="+mn-lt"/>
                <a:cs typeface="+mn-lt"/>
              </a:rPr>
              <a:t> düşürürken, arıza tespitindeki güvenilirliğimizi koruyoruz."</a:t>
            </a:r>
            <a:endParaRPr lang="tr-TR" sz="1600"/>
          </a:p>
          <a:p>
            <a:pPr>
              <a:lnSpc>
                <a:spcPct val="100000"/>
              </a:lnSpc>
            </a:pPr>
            <a:endParaRPr lang="tr-TR" sz="1600"/>
          </a:p>
        </p:txBody>
      </p:sp>
      <p:pic>
        <p:nvPicPr>
          <p:cNvPr id="4" name="Resim 3" descr="metin, ekran görüntüsü, çizgi, öykü gelişim çizgisi&#10;&#10;Yapay zeka tarafından oluşturulmuş içerik yanlış olabilir.">
            <a:extLst>
              <a:ext uri="{FF2B5EF4-FFF2-40B4-BE49-F238E27FC236}">
                <a16:creationId xmlns:a16="http://schemas.microsoft.com/office/drawing/2014/main" id="{36BCF391-4998-9F8E-0764-FC3106E37C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59" y="1259248"/>
            <a:ext cx="5555999" cy="4333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407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77429E7-E806-8C14-7767-0406B287C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tr-TR" dirty="0">
                <a:gradFill>
                  <a:gsLst>
                    <a:gs pos="0">
                      <a:srgbClr val="00BAC8"/>
                    </a:gs>
                    <a:gs pos="100000">
                      <a:srgbClr val="203040"/>
                    </a:gs>
                  </a:gsLst>
                  <a:lin ang="0" scaled="1"/>
                </a:gradFill>
                <a:latin typeface="Aharoni"/>
                <a:cs typeface="Aharoni"/>
              </a:rPr>
              <a:t>YATIRIM SONRASI VİZYON: Ürün Yol Haritası</a:t>
            </a:r>
            <a:endParaRPr lang="tr-TR" dirty="0">
              <a:gradFill>
                <a:gsLst>
                  <a:gs pos="0">
                    <a:srgbClr val="00BAC8"/>
                  </a:gs>
                  <a:gs pos="100000">
                    <a:srgbClr val="203040"/>
                  </a:gs>
                </a:gsLst>
                <a:lin ang="0" scaled="1"/>
              </a:gradFill>
              <a:latin typeface="Aharoni"/>
            </a:endParaRP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6BC802EE-D0A4-F263-5286-20F95860B4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/>
            <a:r>
              <a:rPr lang="tr-TR" dirty="0">
                <a:ea typeface="+mn-lt"/>
                <a:cs typeface="+mn-lt"/>
              </a:rPr>
              <a:t>Şu anki prototipimiz kanıtlanmış bir işlevselliğe sahiptir, ancak bir sonraki adımımız </a:t>
            </a:r>
            <a:r>
              <a:rPr lang="tr-TR" b="1" dirty="0">
                <a:ea typeface="+mn-lt"/>
                <a:cs typeface="+mn-lt"/>
              </a:rPr>
              <a:t>PCB entegrasyonudur.</a:t>
            </a:r>
            <a:r>
              <a:rPr lang="tr-TR" dirty="0">
                <a:ea typeface="+mn-lt"/>
                <a:cs typeface="+mn-lt"/>
              </a:rPr>
              <a:t> Bu, maliyeti daha da düşürüp güvenilirliği artıracaktır.</a:t>
            </a:r>
            <a:endParaRPr lang="tr-TR" dirty="0"/>
          </a:p>
          <a:p>
            <a:r>
              <a:rPr lang="tr-TR" dirty="0">
                <a:ea typeface="+mn-lt"/>
                <a:cs typeface="+mn-lt"/>
              </a:rPr>
              <a:t>Uzun vadeli hedefimiz, basit bir SMS uyarısından, büyük veri analizi yapabilen, </a:t>
            </a:r>
            <a:r>
              <a:rPr lang="tr-TR" b="1" dirty="0">
                <a:ea typeface="+mn-lt"/>
                <a:cs typeface="+mn-lt"/>
              </a:rPr>
              <a:t>tamamen ölçeklenebilir bir </a:t>
            </a:r>
            <a:r>
              <a:rPr lang="tr-TR" b="1" dirty="0" err="1">
                <a:ea typeface="+mn-lt"/>
                <a:cs typeface="+mn-lt"/>
              </a:rPr>
              <a:t>IoT</a:t>
            </a:r>
            <a:r>
              <a:rPr lang="tr-TR" b="1" dirty="0">
                <a:ea typeface="+mn-lt"/>
                <a:cs typeface="+mn-lt"/>
              </a:rPr>
              <a:t> platformuna</a:t>
            </a:r>
            <a:r>
              <a:rPr lang="tr-TR" dirty="0">
                <a:ea typeface="+mn-lt"/>
                <a:cs typeface="+mn-lt"/>
              </a:rPr>
              <a:t> geçmektir. </a:t>
            </a:r>
          </a:p>
          <a:p>
            <a:r>
              <a:rPr lang="tr-TR" dirty="0">
                <a:ea typeface="+mn-lt"/>
                <a:cs typeface="+mn-lt"/>
              </a:rPr>
              <a:t>Şekil 1.1 de görsel de temsili olarak belirtilmiştir.</a:t>
            </a:r>
            <a:endParaRPr lang="tr-TR" dirty="0"/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5855592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5FF4AB9-EBD2-7BB2-0350-66D3DADC9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tr-TR">
              <a:gradFill>
                <a:gsLst>
                  <a:gs pos="0">
                    <a:srgbClr val="00BAC8"/>
                  </a:gs>
                  <a:gs pos="100000">
                    <a:srgbClr val="203040"/>
                  </a:gs>
                </a:gsLst>
                <a:lin ang="0" scaled="1"/>
              </a:gradFill>
            </a:endParaRP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F21976F-0230-5E75-7C3A-36B13C6A0F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64"/>
            <a:ext cx="10515600" cy="6622939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br>
              <a:rPr lang="tr-TR" dirty="0"/>
            </a:br>
            <a:br>
              <a:rPr lang="tr-TR" dirty="0"/>
            </a:br>
            <a:br>
              <a:rPr lang="tr-TR" dirty="0"/>
            </a:br>
            <a:br>
              <a:rPr lang="tr-TR" dirty="0"/>
            </a:br>
            <a:br>
              <a:rPr lang="tr-TR" dirty="0"/>
            </a:br>
            <a:endParaRPr lang="tr-TR"/>
          </a:p>
          <a:p>
            <a:pPr marL="0" indent="0">
              <a:buNone/>
            </a:pPr>
            <a:br>
              <a:rPr lang="tr-TR" dirty="0"/>
            </a:br>
            <a:br>
              <a:rPr lang="tr-TR" dirty="0"/>
            </a:br>
            <a:br>
              <a:rPr lang="tr-TR" dirty="0"/>
            </a:br>
            <a:br>
              <a:rPr lang="tr-TR" dirty="0"/>
            </a:br>
            <a:r>
              <a:rPr lang="tr-TR" dirty="0"/>
              <a:t>                                                                      </a:t>
            </a:r>
            <a:br>
              <a:rPr lang="tr-TR" dirty="0"/>
            </a:br>
            <a:r>
              <a:rPr lang="tr-TR" dirty="0"/>
              <a:t>                                                                    </a:t>
            </a:r>
            <a:br>
              <a:rPr lang="tr-TR" dirty="0"/>
            </a:br>
            <a:r>
              <a:rPr lang="tr-TR" dirty="0"/>
              <a:t>                                                                          </a:t>
            </a:r>
            <a:br>
              <a:rPr lang="tr-TR" dirty="0"/>
            </a:br>
            <a:br>
              <a:rPr lang="tr-TR" dirty="0"/>
            </a:br>
            <a:br>
              <a:rPr lang="tr-TR" dirty="0"/>
            </a:br>
            <a:br>
              <a:rPr lang="tr-TR" dirty="0"/>
            </a:br>
            <a:br>
              <a:rPr lang="tr-TR" dirty="0"/>
            </a:br>
            <a:br>
              <a:rPr lang="tr-TR" dirty="0"/>
            </a:br>
            <a:br>
              <a:rPr lang="tr-TR" dirty="0"/>
            </a:br>
            <a:r>
              <a:rPr lang="tr-TR" dirty="0"/>
              <a:t>                                                                            Şekil 1.1 </a:t>
            </a:r>
          </a:p>
        </p:txBody>
      </p:sp>
      <p:pic>
        <p:nvPicPr>
          <p:cNvPr id="4" name="Resim 3" descr="elektronik donanım, devre, elektronik bileşen, elektronik mühendisliği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C235EF1F-74CC-D447-CD5B-398B40B471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2"/>
            <a:ext cx="12191998" cy="6185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535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EAE929A-209D-A0A7-7760-98FE8BFE1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>
                <a:gradFill>
                  <a:gsLst>
                    <a:gs pos="0">
                      <a:srgbClr val="00BAC8"/>
                    </a:gs>
                    <a:gs pos="100000">
                      <a:srgbClr val="203040"/>
                    </a:gs>
                  </a:gsLst>
                  <a:lin ang="0" scaled="1"/>
                </a:gradFill>
                <a:latin typeface="Aharoni"/>
                <a:cs typeface="Angsana New"/>
              </a:rPr>
              <a:t>Ürün değişikliği ve sebepleri</a:t>
            </a:r>
            <a:endParaRPr lang="tr-TR" dirty="0">
              <a:gradFill>
                <a:gsLst>
                  <a:gs pos="0">
                    <a:srgbClr val="00BAC8"/>
                  </a:gs>
                  <a:gs pos="100000">
                    <a:srgbClr val="203040"/>
                  </a:gs>
                </a:gsLst>
                <a:lin ang="0" scaled="1"/>
              </a:gradFill>
            </a:endParaRP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C01A57E-D4DD-8673-965C-18685F84A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tr-TR" b="1" dirty="0"/>
              <a:t>Sım800l&gt;</a:t>
            </a:r>
            <a:r>
              <a:rPr lang="tr-TR" b="1" dirty="0" err="1"/>
              <a:t>quectel</a:t>
            </a:r>
            <a:r>
              <a:rPr lang="tr-TR" b="1" dirty="0"/>
              <a:t> bg95</a:t>
            </a:r>
            <a:r>
              <a:rPr lang="tr-TR" dirty="0"/>
              <a:t> </a:t>
            </a:r>
            <a:br>
              <a:rPr lang="tr-TR" dirty="0"/>
            </a:br>
            <a:r>
              <a:rPr lang="tr-TR" dirty="0"/>
              <a:t>Türkiye'de hala 2g teknolojisi desteklenirken çoğu ülkede artık desteklenmiyor cihaz uzun yıllar kullanılabilmesi için  yeni bir entegre gereklidir. </a:t>
            </a:r>
            <a:r>
              <a:rPr lang="tr-TR" dirty="0" err="1"/>
              <a:t>Ayriyetten</a:t>
            </a:r>
            <a:r>
              <a:rPr lang="tr-TR" dirty="0"/>
              <a:t> çok daha az enerji harcar.</a:t>
            </a:r>
          </a:p>
          <a:p>
            <a:r>
              <a:rPr lang="tr-TR" b="1" dirty="0"/>
              <a:t>MPU6050&gt;adxl355</a:t>
            </a:r>
          </a:p>
          <a:p>
            <a:r>
              <a:rPr lang="tr-TR" dirty="0"/>
              <a:t>MPU6050 her ne kadar bize proje ödevlerimizde ya da günlük problemlerimizde işimize yarasa da maalesef endüstri için yetersizdir bu yüzden adxl355 sensörüne geçiş yapılmıştır.</a:t>
            </a:r>
          </a:p>
        </p:txBody>
      </p:sp>
    </p:spTree>
    <p:extLst>
      <p:ext uri="{BB962C8B-B14F-4D97-AF65-F5344CB8AC3E}">
        <p14:creationId xmlns:p14="http://schemas.microsoft.com/office/powerpoint/2010/main" val="49844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5A86C77-F9A6-C152-0DB1-0C4B606F0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>
                <a:gradFill>
                  <a:gsLst>
                    <a:gs pos="0">
                      <a:srgbClr val="00BAC8"/>
                    </a:gs>
                    <a:gs pos="100000">
                      <a:srgbClr val="203040"/>
                    </a:gs>
                  </a:gsLst>
                  <a:lin ang="0" scaled="1"/>
                </a:gradFill>
                <a:latin typeface="Aharoni"/>
                <a:cs typeface="Angsana New"/>
              </a:rPr>
              <a:t>Kaynakça </a:t>
            </a:r>
            <a:endParaRPr lang="tr-TR" dirty="0">
              <a:gradFill>
                <a:gsLst>
                  <a:gs pos="0">
                    <a:srgbClr val="00BAC8"/>
                  </a:gs>
                  <a:gs pos="100000">
                    <a:srgbClr val="203040"/>
                  </a:gs>
                </a:gsLst>
                <a:lin ang="0" scaled="1"/>
              </a:gradFill>
            </a:endParaRP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359E0C7E-BFA6-AE40-5067-A1CB74C708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40875"/>
            <a:ext cx="10851776" cy="4538646"/>
          </a:xfrm>
        </p:spPr>
        <p:txBody>
          <a:bodyPr vert="horz" lIns="91440" tIns="45720" rIns="91440" bIns="45720" rtlCol="0" anchor="t">
            <a:normAutofit fontScale="55000" lnSpcReduction="20000"/>
          </a:bodyPr>
          <a:lstStyle/>
          <a:p>
            <a:pPr marL="0" indent="0"/>
            <a:r>
              <a:rPr lang="tr-TR" dirty="0"/>
              <a:t>I. Proje Dokümanları ve Yazılım Kodları</a:t>
            </a:r>
          </a:p>
          <a:p>
            <a:r>
              <a:rPr lang="tr-TR">
                <a:ea typeface="+mn-lt"/>
                <a:cs typeface="+mn-lt"/>
              </a:rPr>
              <a:t>[Soyadı], [Adı]. (2025). </a:t>
            </a:r>
            <a:r>
              <a:rPr lang="tr-TR" i="1">
                <a:ea typeface="+mn-lt"/>
                <a:cs typeface="+mn-lt"/>
              </a:rPr>
              <a:t>RMS Titreşim İzleme ve SMS ile Erken Arıza Tespit Sistemi Sistem Analizi ve Tasarımı Raporu</a:t>
            </a:r>
            <a:r>
              <a:rPr lang="tr-TR">
                <a:ea typeface="+mn-lt"/>
                <a:cs typeface="+mn-lt"/>
              </a:rPr>
              <a:t>. [Proje Raporu]. (Projenizin tüm teknik analiz, maliyet ve şema detaylarının kaynağıdır.)</a:t>
            </a:r>
            <a:endParaRPr lang="tr-TR"/>
          </a:p>
          <a:p>
            <a:r>
              <a:rPr lang="tr-TR">
                <a:ea typeface="+mn-lt"/>
                <a:cs typeface="+mn-lt"/>
              </a:rPr>
              <a:t>[Soyadı], [Adı]. (2025). </a:t>
            </a:r>
            <a:r>
              <a:rPr lang="tr-TR" i="1" err="1">
                <a:ea typeface="+mn-lt"/>
                <a:cs typeface="+mn-lt"/>
              </a:rPr>
              <a:t>Vibration_Monitor.ino</a:t>
            </a:r>
            <a:r>
              <a:rPr lang="tr-TR" i="1">
                <a:ea typeface="+mn-lt"/>
                <a:cs typeface="+mn-lt"/>
              </a:rPr>
              <a:t> (RMS Titreşim İzleme Kodu)</a:t>
            </a:r>
            <a:r>
              <a:rPr lang="tr-TR">
                <a:ea typeface="+mn-lt"/>
                <a:cs typeface="+mn-lt"/>
              </a:rPr>
              <a:t>. [Yazılım Kodu]. (RMS hesaplama, alarm mantığı ve kalibrasyon algoritmasının kaynağıdır.)</a:t>
            </a:r>
            <a:endParaRPr lang="tr-TR"/>
          </a:p>
          <a:p>
            <a:r>
              <a:rPr lang="tr-TR"/>
              <a:t>II. Bilimsel ve Metodolojik Kaynaklar</a:t>
            </a:r>
          </a:p>
          <a:p>
            <a:r>
              <a:rPr lang="tr-TR" dirty="0">
                <a:ea typeface="+mn-lt"/>
                <a:cs typeface="+mn-lt"/>
              </a:rPr>
              <a:t>[Yazar(</a:t>
            </a:r>
            <a:r>
              <a:rPr lang="tr-TR" dirty="0" err="1">
                <a:ea typeface="+mn-lt"/>
                <a:cs typeface="+mn-lt"/>
              </a:rPr>
              <a:t>lar</a:t>
            </a:r>
            <a:r>
              <a:rPr lang="tr-TR" dirty="0">
                <a:ea typeface="+mn-lt"/>
                <a:cs typeface="+mn-lt"/>
              </a:rPr>
              <a:t>) Adı]. (2018). </a:t>
            </a:r>
            <a:r>
              <a:rPr lang="tr-TR" i="1" dirty="0" err="1">
                <a:ea typeface="+mn-lt"/>
                <a:cs typeface="+mn-lt"/>
              </a:rPr>
              <a:t>Acceleration_rms_value</a:t>
            </a:r>
            <a:r>
              <a:rPr lang="tr-TR" dirty="0">
                <a:ea typeface="+mn-lt"/>
                <a:cs typeface="+mn-lt"/>
              </a:rPr>
              <a:t> ile Hasar Büyümesinin İzlenmesi: Erken Uyarı Sistemleri Uygulaması. </a:t>
            </a:r>
            <a:r>
              <a:rPr lang="tr-TR" i="1" dirty="0">
                <a:ea typeface="+mn-lt"/>
                <a:cs typeface="+mn-lt"/>
              </a:rPr>
              <a:t>Uluslararası Titreşim Analizi Dergisi</a:t>
            </a:r>
            <a:r>
              <a:rPr lang="tr-TR" dirty="0">
                <a:ea typeface="+mn-lt"/>
                <a:cs typeface="+mn-lt"/>
              </a:rPr>
              <a:t>. (RMS değerinin, </a:t>
            </a:r>
            <a:r>
              <a:rPr lang="tr-TR" b="1" dirty="0">
                <a:ea typeface="+mn-lt"/>
                <a:cs typeface="+mn-lt"/>
              </a:rPr>
              <a:t>Erken Uyarı Sistemi (EWS)</a:t>
            </a:r>
            <a:r>
              <a:rPr lang="tr-TR" dirty="0">
                <a:ea typeface="+mn-lt"/>
                <a:cs typeface="+mn-lt"/>
              </a:rPr>
              <a:t> için arıza ilerlemesini gösterdiğine dair bilimsel kanıtın kaynağıdır.)</a:t>
            </a:r>
            <a:endParaRPr lang="tr-TR" dirty="0"/>
          </a:p>
          <a:p>
            <a:r>
              <a:rPr lang="tr-TR" dirty="0"/>
              <a:t>III. Teknik Veri Sayfaları (</a:t>
            </a:r>
            <a:r>
              <a:rPr lang="tr-TR" dirty="0" err="1"/>
              <a:t>Datasheets</a:t>
            </a:r>
            <a:r>
              <a:rPr lang="tr-TR" dirty="0"/>
              <a:t>)</a:t>
            </a:r>
          </a:p>
          <a:p>
            <a:r>
              <a:rPr lang="tr-TR" dirty="0"/>
              <a:t>A. Mevcut Prototip Bileşenleri</a:t>
            </a:r>
          </a:p>
          <a:p>
            <a:r>
              <a:rPr lang="tr-TR" b="1" dirty="0" err="1">
                <a:ea typeface="+mn-lt"/>
                <a:cs typeface="+mn-lt"/>
              </a:rPr>
              <a:t>Espressif</a:t>
            </a:r>
            <a:r>
              <a:rPr lang="tr-TR" b="1" dirty="0">
                <a:ea typeface="+mn-lt"/>
                <a:cs typeface="+mn-lt"/>
              </a:rPr>
              <a:t> </a:t>
            </a:r>
            <a:r>
              <a:rPr lang="tr-TR" b="1" dirty="0" err="1">
                <a:ea typeface="+mn-lt"/>
                <a:cs typeface="+mn-lt"/>
              </a:rPr>
              <a:t>Systems</a:t>
            </a:r>
            <a:r>
              <a:rPr lang="tr-TR" b="1" dirty="0">
                <a:ea typeface="+mn-lt"/>
                <a:cs typeface="+mn-lt"/>
              </a:rPr>
              <a:t>.</a:t>
            </a:r>
            <a:r>
              <a:rPr lang="tr-TR" dirty="0">
                <a:ea typeface="+mn-lt"/>
                <a:cs typeface="+mn-lt"/>
              </a:rPr>
              <a:t> </a:t>
            </a:r>
            <a:r>
              <a:rPr lang="tr-TR" i="1" dirty="0">
                <a:ea typeface="+mn-lt"/>
                <a:cs typeface="+mn-lt"/>
              </a:rPr>
              <a:t>ESP32-WROOM-32 </a:t>
            </a:r>
            <a:r>
              <a:rPr lang="tr-TR" i="1" dirty="0" err="1">
                <a:ea typeface="+mn-lt"/>
                <a:cs typeface="+mn-lt"/>
              </a:rPr>
              <a:t>Datasheet</a:t>
            </a:r>
            <a:r>
              <a:rPr lang="tr-TR" dirty="0">
                <a:ea typeface="+mn-lt"/>
                <a:cs typeface="+mn-lt"/>
              </a:rPr>
              <a:t>. [Mikrodenetleyici ve Haberleşme Modülü Teknik Veri Sayfası].</a:t>
            </a:r>
            <a:endParaRPr lang="tr-TR" dirty="0"/>
          </a:p>
          <a:p>
            <a:r>
              <a:rPr lang="tr-TR" b="1" dirty="0" err="1">
                <a:ea typeface="+mn-lt"/>
                <a:cs typeface="+mn-lt"/>
              </a:rPr>
              <a:t>InvenSense</a:t>
            </a:r>
            <a:r>
              <a:rPr lang="tr-TR" b="1" dirty="0">
                <a:ea typeface="+mn-lt"/>
                <a:cs typeface="+mn-lt"/>
              </a:rPr>
              <a:t>.</a:t>
            </a:r>
            <a:r>
              <a:rPr lang="tr-TR" dirty="0">
                <a:ea typeface="+mn-lt"/>
                <a:cs typeface="+mn-lt"/>
              </a:rPr>
              <a:t> </a:t>
            </a:r>
            <a:r>
              <a:rPr lang="tr-TR" i="1" dirty="0">
                <a:ea typeface="+mn-lt"/>
                <a:cs typeface="+mn-lt"/>
              </a:rPr>
              <a:t>MPU-6000 </a:t>
            </a:r>
            <a:r>
              <a:rPr lang="tr-TR" i="1" dirty="0" err="1">
                <a:ea typeface="+mn-lt"/>
                <a:cs typeface="+mn-lt"/>
              </a:rPr>
              <a:t>and</a:t>
            </a:r>
            <a:r>
              <a:rPr lang="tr-TR" i="1" dirty="0">
                <a:ea typeface="+mn-lt"/>
                <a:cs typeface="+mn-lt"/>
              </a:rPr>
              <a:t> MPU-6050 Product </a:t>
            </a:r>
            <a:r>
              <a:rPr lang="tr-TR" i="1" dirty="0" err="1">
                <a:ea typeface="+mn-lt"/>
                <a:cs typeface="+mn-lt"/>
              </a:rPr>
              <a:t>Specification</a:t>
            </a:r>
            <a:r>
              <a:rPr lang="tr-TR" dirty="0">
                <a:ea typeface="+mn-lt"/>
                <a:cs typeface="+mn-lt"/>
              </a:rPr>
              <a:t>. [Titreşim Sensörü Teknik Veri Sayfası].</a:t>
            </a:r>
            <a:endParaRPr lang="tr-TR" dirty="0"/>
          </a:p>
          <a:p>
            <a:r>
              <a:rPr lang="tr-TR" b="1" dirty="0" err="1">
                <a:ea typeface="+mn-lt"/>
                <a:cs typeface="+mn-lt"/>
              </a:rPr>
              <a:t>SIMCom</a:t>
            </a:r>
            <a:r>
              <a:rPr lang="tr-TR" b="1" dirty="0">
                <a:ea typeface="+mn-lt"/>
                <a:cs typeface="+mn-lt"/>
              </a:rPr>
              <a:t> Wireless Solutions.</a:t>
            </a:r>
            <a:r>
              <a:rPr lang="tr-TR" dirty="0">
                <a:ea typeface="+mn-lt"/>
                <a:cs typeface="+mn-lt"/>
              </a:rPr>
              <a:t> </a:t>
            </a:r>
            <a:r>
              <a:rPr lang="tr-TR" i="1" dirty="0">
                <a:ea typeface="+mn-lt"/>
                <a:cs typeface="+mn-lt"/>
              </a:rPr>
              <a:t>SIM800L Hardware Design</a:t>
            </a:r>
            <a:r>
              <a:rPr lang="tr-TR" dirty="0">
                <a:ea typeface="+mn-lt"/>
                <a:cs typeface="+mn-lt"/>
              </a:rPr>
              <a:t>. [GSM Modülü Teknik Veri Sayfası].</a:t>
            </a:r>
            <a:endParaRPr lang="tr-TR" dirty="0"/>
          </a:p>
          <a:p>
            <a:r>
              <a:rPr lang="tr-TR" b="1" dirty="0">
                <a:ea typeface="+mn-lt"/>
                <a:cs typeface="+mn-lt"/>
              </a:rPr>
              <a:t>Texas Instruments.</a:t>
            </a:r>
            <a:r>
              <a:rPr lang="tr-TR" dirty="0">
                <a:ea typeface="+mn-lt"/>
                <a:cs typeface="+mn-lt"/>
              </a:rPr>
              <a:t> </a:t>
            </a:r>
            <a:r>
              <a:rPr lang="tr-TR" i="1" dirty="0">
                <a:ea typeface="+mn-lt"/>
                <a:cs typeface="+mn-lt"/>
              </a:rPr>
              <a:t>LM2596 SIMPLE SWITCHER® </a:t>
            </a:r>
            <a:r>
              <a:rPr lang="tr-TR" i="1" dirty="0" err="1">
                <a:ea typeface="+mn-lt"/>
                <a:cs typeface="+mn-lt"/>
              </a:rPr>
              <a:t>Power</a:t>
            </a:r>
            <a:r>
              <a:rPr lang="tr-TR" i="1" dirty="0">
                <a:ea typeface="+mn-lt"/>
                <a:cs typeface="+mn-lt"/>
              </a:rPr>
              <a:t> Converter </a:t>
            </a:r>
            <a:r>
              <a:rPr lang="tr-TR" i="1" dirty="0" err="1">
                <a:ea typeface="+mn-lt"/>
                <a:cs typeface="+mn-lt"/>
              </a:rPr>
              <a:t>Datasheet</a:t>
            </a:r>
            <a:r>
              <a:rPr lang="tr-TR" dirty="0">
                <a:ea typeface="+mn-lt"/>
                <a:cs typeface="+mn-lt"/>
              </a:rPr>
              <a:t>. [Güç Yönetimi Modülü Teknik Veri Sayfası].</a:t>
            </a:r>
            <a:endParaRPr lang="tr-TR" dirty="0"/>
          </a:p>
          <a:p>
            <a:r>
              <a:rPr lang="tr-TR" dirty="0"/>
              <a:t>B. Geliştirilebilir Versiyon Bileşenleri (Vizyon)</a:t>
            </a:r>
          </a:p>
          <a:p>
            <a:r>
              <a:rPr lang="tr-TR" b="1" dirty="0">
                <a:ea typeface="+mn-lt"/>
                <a:cs typeface="+mn-lt"/>
              </a:rPr>
              <a:t>Analog </a:t>
            </a:r>
            <a:r>
              <a:rPr lang="tr-TR" b="1" dirty="0" err="1">
                <a:ea typeface="+mn-lt"/>
                <a:cs typeface="+mn-lt"/>
              </a:rPr>
              <a:t>Devices</a:t>
            </a:r>
            <a:r>
              <a:rPr lang="tr-TR" b="1" dirty="0">
                <a:ea typeface="+mn-lt"/>
                <a:cs typeface="+mn-lt"/>
              </a:rPr>
              <a:t>.</a:t>
            </a:r>
            <a:r>
              <a:rPr lang="tr-TR" dirty="0">
                <a:ea typeface="+mn-lt"/>
                <a:cs typeface="+mn-lt"/>
              </a:rPr>
              <a:t> </a:t>
            </a:r>
            <a:r>
              <a:rPr lang="tr-TR" i="1" dirty="0">
                <a:ea typeface="+mn-lt"/>
                <a:cs typeface="+mn-lt"/>
              </a:rPr>
              <a:t>ADXL355 </a:t>
            </a:r>
            <a:r>
              <a:rPr lang="tr-TR" i="1" dirty="0" err="1">
                <a:ea typeface="+mn-lt"/>
                <a:cs typeface="+mn-lt"/>
              </a:rPr>
              <a:t>Low</a:t>
            </a:r>
            <a:r>
              <a:rPr lang="tr-TR" i="1" dirty="0">
                <a:ea typeface="+mn-lt"/>
                <a:cs typeface="+mn-lt"/>
              </a:rPr>
              <a:t> </a:t>
            </a:r>
            <a:r>
              <a:rPr lang="tr-TR" i="1" dirty="0" err="1">
                <a:ea typeface="+mn-lt"/>
                <a:cs typeface="+mn-lt"/>
              </a:rPr>
              <a:t>Noise</a:t>
            </a:r>
            <a:r>
              <a:rPr lang="tr-TR" i="1" dirty="0">
                <a:ea typeface="+mn-lt"/>
                <a:cs typeface="+mn-lt"/>
              </a:rPr>
              <a:t>, </a:t>
            </a:r>
            <a:r>
              <a:rPr lang="tr-TR" i="1" dirty="0" err="1">
                <a:ea typeface="+mn-lt"/>
                <a:cs typeface="+mn-lt"/>
              </a:rPr>
              <a:t>Low</a:t>
            </a:r>
            <a:r>
              <a:rPr lang="tr-TR" i="1" dirty="0">
                <a:ea typeface="+mn-lt"/>
                <a:cs typeface="+mn-lt"/>
              </a:rPr>
              <a:t> </a:t>
            </a:r>
            <a:r>
              <a:rPr lang="tr-TR" i="1" dirty="0" err="1">
                <a:ea typeface="+mn-lt"/>
                <a:cs typeface="+mn-lt"/>
              </a:rPr>
              <a:t>Drift</a:t>
            </a:r>
            <a:r>
              <a:rPr lang="tr-TR" i="1" dirty="0">
                <a:ea typeface="+mn-lt"/>
                <a:cs typeface="+mn-lt"/>
              </a:rPr>
              <a:t>, </a:t>
            </a:r>
            <a:r>
              <a:rPr lang="tr-TR" i="1" dirty="0" err="1">
                <a:ea typeface="+mn-lt"/>
                <a:cs typeface="+mn-lt"/>
              </a:rPr>
              <a:t>Low</a:t>
            </a:r>
            <a:r>
              <a:rPr lang="tr-TR" i="1" dirty="0">
                <a:ea typeface="+mn-lt"/>
                <a:cs typeface="+mn-lt"/>
              </a:rPr>
              <a:t> </a:t>
            </a:r>
            <a:r>
              <a:rPr lang="tr-TR" i="1" dirty="0" err="1">
                <a:ea typeface="+mn-lt"/>
                <a:cs typeface="+mn-lt"/>
              </a:rPr>
              <a:t>Power</a:t>
            </a:r>
            <a:r>
              <a:rPr lang="tr-TR" i="1" dirty="0">
                <a:ea typeface="+mn-lt"/>
                <a:cs typeface="+mn-lt"/>
              </a:rPr>
              <a:t>, 3-Axis MEMS </a:t>
            </a:r>
            <a:r>
              <a:rPr lang="tr-TR" i="1" dirty="0" err="1">
                <a:ea typeface="+mn-lt"/>
                <a:cs typeface="+mn-lt"/>
              </a:rPr>
              <a:t>Accelerometer</a:t>
            </a:r>
            <a:r>
              <a:rPr lang="tr-TR" i="1" dirty="0">
                <a:ea typeface="+mn-lt"/>
                <a:cs typeface="+mn-lt"/>
              </a:rPr>
              <a:t> </a:t>
            </a:r>
            <a:r>
              <a:rPr lang="tr-TR" i="1" dirty="0" err="1">
                <a:ea typeface="+mn-lt"/>
                <a:cs typeface="+mn-lt"/>
              </a:rPr>
              <a:t>Datasheet</a:t>
            </a:r>
            <a:r>
              <a:rPr lang="tr-TR" dirty="0">
                <a:ea typeface="+mn-lt"/>
                <a:cs typeface="+mn-lt"/>
              </a:rPr>
              <a:t>. [Endüstriyel Sınıf Titreşim Sensörü Teknik Veri Sayfası].</a:t>
            </a:r>
            <a:endParaRPr lang="tr-TR" dirty="0"/>
          </a:p>
          <a:p>
            <a:r>
              <a:rPr lang="tr-TR" b="1" dirty="0" err="1">
                <a:ea typeface="+mn-lt"/>
                <a:cs typeface="+mn-lt"/>
              </a:rPr>
              <a:t>Quectel</a:t>
            </a:r>
            <a:r>
              <a:rPr lang="tr-TR" b="1" dirty="0">
                <a:ea typeface="+mn-lt"/>
                <a:cs typeface="+mn-lt"/>
              </a:rPr>
              <a:t> Wireless Solutions.</a:t>
            </a:r>
            <a:r>
              <a:rPr lang="tr-TR" dirty="0">
                <a:ea typeface="+mn-lt"/>
                <a:cs typeface="+mn-lt"/>
              </a:rPr>
              <a:t> </a:t>
            </a:r>
            <a:r>
              <a:rPr lang="tr-TR" i="1" dirty="0">
                <a:ea typeface="+mn-lt"/>
                <a:cs typeface="+mn-lt"/>
              </a:rPr>
              <a:t>BG95 Series Hardware Design</a:t>
            </a:r>
            <a:r>
              <a:rPr lang="tr-TR" dirty="0">
                <a:ea typeface="+mn-lt"/>
                <a:cs typeface="+mn-lt"/>
              </a:rPr>
              <a:t>. [LTE </a:t>
            </a:r>
            <a:r>
              <a:rPr lang="tr-TR" dirty="0" err="1">
                <a:ea typeface="+mn-lt"/>
                <a:cs typeface="+mn-lt"/>
              </a:rPr>
              <a:t>Cat</a:t>
            </a:r>
            <a:r>
              <a:rPr lang="tr-TR" dirty="0">
                <a:ea typeface="+mn-lt"/>
                <a:cs typeface="+mn-lt"/>
              </a:rPr>
              <a:t> M1/NB-</a:t>
            </a:r>
            <a:r>
              <a:rPr lang="tr-TR" dirty="0" err="1">
                <a:ea typeface="+mn-lt"/>
                <a:cs typeface="+mn-lt"/>
              </a:rPr>
              <a:t>IoT</a:t>
            </a:r>
            <a:r>
              <a:rPr lang="tr-TR" dirty="0">
                <a:ea typeface="+mn-lt"/>
                <a:cs typeface="+mn-lt"/>
              </a:rPr>
              <a:t> Modülü Teknik Veri Sayfası].</a:t>
            </a:r>
            <a:endParaRPr lang="tr-TR" dirty="0"/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841330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42872C0-6DEA-1930-DEA0-E197866DD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>
                <a:gradFill>
                  <a:gsLst>
                    <a:gs pos="0">
                      <a:srgbClr val="00BAC8"/>
                    </a:gs>
                    <a:gs pos="100000">
                      <a:srgbClr val="203040"/>
                    </a:gs>
                  </a:gsLst>
                  <a:lin ang="0" scaled="1"/>
                </a:gradFill>
                <a:latin typeface="Aharoni"/>
                <a:cs typeface="Angsana New"/>
              </a:rPr>
              <a:t>İletişim</a:t>
            </a:r>
            <a:endParaRPr lang="tr-TR" dirty="0">
              <a:gradFill>
                <a:gsLst>
                  <a:gs pos="0">
                    <a:srgbClr val="00BAC8"/>
                  </a:gs>
                  <a:gs pos="100000">
                    <a:srgbClr val="203040"/>
                  </a:gs>
                </a:gsLst>
                <a:lin ang="0" scaled="1"/>
              </a:gradFill>
            </a:endParaRP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AFEAC0DF-A2EB-E40F-AEEE-9C238EACD2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tr-TR" dirty="0"/>
              <a:t>                                                       Enes Akagündüz </a:t>
            </a:r>
            <a:endParaRPr lang="tr-TR"/>
          </a:p>
          <a:p>
            <a:pPr marL="0" indent="0">
              <a:buNone/>
            </a:pPr>
            <a:r>
              <a:rPr lang="tr-TR" dirty="0"/>
              <a:t>                                       Danışman : Dr. Mustafa </a:t>
            </a:r>
            <a:r>
              <a:rPr lang="tr-TR" dirty="0" err="1"/>
              <a:t>Berkat</a:t>
            </a:r>
            <a:r>
              <a:rPr lang="tr-TR" dirty="0"/>
              <a:t> Selek</a:t>
            </a:r>
          </a:p>
          <a:p>
            <a:pPr marL="0" indent="0">
              <a:buNone/>
            </a:pPr>
            <a:r>
              <a:rPr lang="tr-TR" dirty="0"/>
              <a:t>            EGE ÜNİVERSİTESİ ELEKTRONİK HABERLEŞME TEKNOLOJİSİ</a:t>
            </a:r>
          </a:p>
          <a:p>
            <a:r>
              <a:rPr lang="tr-TR" dirty="0"/>
              <a:t>Mail : </a:t>
            </a:r>
            <a:r>
              <a:rPr lang="tr-TR" dirty="0">
                <a:hlinkClick r:id="rId2"/>
              </a:rPr>
              <a:t>enesakagunduz1@gmail.com</a:t>
            </a:r>
            <a:endParaRPr lang="tr-TR" dirty="0"/>
          </a:p>
          <a:p>
            <a:r>
              <a:rPr lang="tr-TR" dirty="0" err="1"/>
              <a:t>Linkedin</a:t>
            </a:r>
            <a:r>
              <a:rPr lang="tr-TR" dirty="0"/>
              <a:t> : </a:t>
            </a:r>
            <a:r>
              <a:rPr lang="tr-TR" dirty="0">
                <a:ea typeface="+mn-lt"/>
                <a:cs typeface="+mn-lt"/>
              </a:rPr>
              <a:t> </a:t>
            </a:r>
            <a:r>
              <a:rPr lang="tr-TR" dirty="0">
                <a:ea typeface="+mn-lt"/>
                <a:cs typeface="+mn-lt"/>
                <a:hlinkClick r:id="rId3"/>
              </a:rPr>
              <a:t>https://www.linkedin.com/in/enes-akag%C3%BCnd%C3%BCz-153682213/</a:t>
            </a:r>
            <a:endParaRPr lang="tr-TR" dirty="0">
              <a:ea typeface="+mn-lt"/>
              <a:cs typeface="+mn-lt"/>
            </a:endParaRPr>
          </a:p>
          <a:p>
            <a:r>
              <a:rPr lang="tr-TR" dirty="0" err="1"/>
              <a:t>Github</a:t>
            </a:r>
            <a:r>
              <a:rPr lang="tr-TR" dirty="0"/>
              <a:t> : </a:t>
            </a:r>
            <a:r>
              <a:rPr lang="tr-TR" dirty="0">
                <a:ea typeface="+mn-lt"/>
                <a:cs typeface="+mn-lt"/>
                <a:hlinkClick r:id="rId4"/>
              </a:rPr>
              <a:t>https://github.com/enesakagunduz1-create</a:t>
            </a:r>
            <a:endParaRPr lang="tr-TR" dirty="0">
              <a:ea typeface="+mn-lt"/>
              <a:cs typeface="+mn-lt"/>
            </a:endParaRPr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930293165"/>
      </p:ext>
    </p:extLst>
  </p:cSld>
  <p:clrMapOvr>
    <a:masterClrMapping/>
  </p:clrMapOvr>
</p:sld>
</file>

<file path=ppt/theme/theme1.xml><?xml version="1.0" encoding="utf-8"?>
<a:theme xmlns:a="http://schemas.openxmlformats.org/drawingml/2006/main" name="FadeVTI">
  <a:themeElements>
    <a:clrScheme name="gradient">
      <a:dk1>
        <a:sysClr val="windowText" lastClr="000000"/>
      </a:dk1>
      <a:lt1>
        <a:sysClr val="window" lastClr="FFFFFF"/>
      </a:lt1>
      <a:dk2>
        <a:srgbClr val="203040"/>
      </a:dk2>
      <a:lt2>
        <a:srgbClr val="ECF0F0"/>
      </a:lt2>
      <a:accent1>
        <a:srgbClr val="00BAC8"/>
      </a:accent1>
      <a:accent2>
        <a:srgbClr val="794DFF"/>
      </a:accent2>
      <a:accent3>
        <a:srgbClr val="00D17D"/>
      </a:accent3>
      <a:accent4>
        <a:srgbClr val="E69500"/>
      </a:accent4>
      <a:accent5>
        <a:srgbClr val="FE5D21"/>
      </a:accent5>
      <a:accent6>
        <a:srgbClr val="DA2A69"/>
      </a:accent6>
      <a:hlink>
        <a:srgbClr val="3E8FF1"/>
      </a:hlink>
      <a:folHlink>
        <a:srgbClr val="939393"/>
      </a:folHlink>
    </a:clrScheme>
    <a:fontScheme name="Custom 49">
      <a:majorFont>
        <a:latin typeface="Aharoni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deVTI" id="{1194088A-B135-4437-9FD8-7466BBC13A13}" vid="{B787DE2F-1995-45D8-A8E2-6B5CC521AC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Geniş ekran</PresentationFormat>
  <Paragraphs>0</Paragraphs>
  <Slides>11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11</vt:i4>
      </vt:variant>
    </vt:vector>
  </HeadingPairs>
  <TitlesOfParts>
    <vt:vector size="12" baseType="lpstr">
      <vt:lpstr>FadeVTI</vt:lpstr>
      <vt:lpstr>ERKEN ARIZA TESPIT</vt:lpstr>
      <vt:lpstr>Kestirimci Bakımın Ulaşılmaz Maliyeti</vt:lpstr>
      <vt:lpstr>RMS Analizi ve Anında SMS Alarmı</vt:lpstr>
      <vt:lpstr>PowerPoint Sunusu</vt:lpstr>
      <vt:lpstr>DRAMATİK FİYAT AVANTAJI ve Teknik Üstünlük</vt:lpstr>
      <vt:lpstr>Neden sadece titreşimi baz alıyoruz?</vt:lpstr>
      <vt:lpstr>YATIRIM SONRASI VİZYON: Ürün Yol Haritası</vt:lpstr>
      <vt:lpstr>PowerPoint Sunusu</vt:lpstr>
      <vt:lpstr>Ürün değişikliği ve sebepleri</vt:lpstr>
      <vt:lpstr>Kaynakça </vt:lpstr>
      <vt:lpstr>İletişim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197</cp:revision>
  <dcterms:created xsi:type="dcterms:W3CDTF">2025-12-09T21:31:47Z</dcterms:created>
  <dcterms:modified xsi:type="dcterms:W3CDTF">2025-12-10T01:15:41Z</dcterms:modified>
</cp:coreProperties>
</file>