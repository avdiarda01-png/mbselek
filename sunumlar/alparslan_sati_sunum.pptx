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7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BF3B4-9994-44CE-892A-2DE468449D0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3CB1D-7604-4C05-BD21-79AD96750F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9161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3CB1D-7604-4C05-BD21-79AD96750FE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877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FE7884-AEBD-1F11-8FCA-676E2C834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B0E5E45-2220-7084-E6FD-688197FA8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5FF6E35-F606-70D0-3AEE-82C7FDD05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9C0052B-BC49-5B1E-07D1-632D4B78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FEE15B-DBDF-EAB8-E30B-99F64702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415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E2DB2A-9552-BF3F-D375-12589C45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89177F-DF2A-936D-E4DF-ED5F4505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37C79C6-F372-EAB0-172B-C25D89A1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0D8A76B-2527-4E3D-4D3A-60C334F2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E3BBDC7-381C-C759-B246-9BB4FF11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131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270B23-66BD-040A-2E9E-17381446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AD249C8-C58D-84A5-0619-775E7DCCD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BC3EC2-5DD8-96A2-C77B-77AC2ACB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CC06F52-B06B-EA20-C330-FA3F1830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CE9F3D5-30E2-2D5F-8313-E24412AD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76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B80C77-D56F-AA4B-9401-E80AA230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998965-D603-B553-76AB-9A33E52F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BAFBF76-A83E-5C4E-9F53-D6D35B10D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BF5881B-2ED0-8292-D46D-78C75DD9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414A261-3A25-E611-9EF1-19FD5D948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98E1179-305A-F8EF-5455-392FC320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947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50BD0C-27AF-32D4-8C61-C541354A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C42BB06-2F48-1B94-DA59-35B831689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191EF98-7C43-B911-F733-2A2E89444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7A7A562-C87E-4ECC-F1F2-206C72FC7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F914C28-8CA2-4A51-6C8B-A9A92A359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E667321-0004-FC57-B9AC-625363A3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9711093-8C0D-24A2-5696-778ABA39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5C16ED20-787B-59E5-1F1F-5CB1761E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188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E34405-D012-4A7D-CB81-A1ED35D3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51EF344-1733-CAE1-5109-5ECC1B58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A4744E0-BA2D-4FFE-FC5E-7332CAF8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D0A85D9-C29C-DA36-DB80-21B9D586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6775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2145E29-08D3-4CB4-55F7-C060631EB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7600BFF-1421-0895-6699-552C9E0F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D5C6947-8454-B341-7393-F129ADD6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647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2935E3-8F00-3224-E8E7-E0CB859D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9C9DD70-0B3F-90D1-2008-2189DA44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02DED85-DE2E-7EEF-9791-BDD0C346A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F4BE247-6CD8-928B-183D-80E68A5A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7DCF55F-BB32-F3AE-9AF7-92EA18C7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7EF5085-C043-DFD8-CC78-640694E90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669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67E267-9BEC-C389-328E-F65403CF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0499A0E-29B6-98AD-708C-ABA31F8DF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54BC5A7-6603-8ECD-538C-834917D59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0A43ADE-F8E4-00D6-BC3E-FDB2BE58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75B1B9D-59A3-DAD7-CC32-96A468845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182E00B-7635-C518-25BA-F832F26F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483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82E0B2-7E35-D61A-3654-05C3E152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7E84824-F933-8139-1ACA-829D217FE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6895EDE-4157-5A32-36F9-9427E9D9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4F3A45D-8A2A-A10E-8A71-FF48DC4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D31AE7E-4BC9-FDFA-114A-98221523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5958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F992F1F-174B-303C-7C91-1CA2CEDCE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3E06435-FFAA-8BE9-39CA-3B0F3EBAA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5F8E2B-5FF3-7CDD-3E28-D157317B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ED90563-FF37-13DE-CE4E-3EFE6F75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CBAD64-8DA0-2C75-5CAB-BEE9C9A1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51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33B47C3-836F-75FB-8CD2-69A9504D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86C7C9C-9772-3BA8-B094-B423F8FA8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421F193-F0FA-C505-EB5C-5DD2F9D11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20837-827A-41C1-BA25-C3E4D2BEE265}" type="datetimeFigureOut">
              <a:rPr lang="tr-TR" smtClean="0"/>
              <a:t>10.12.2025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B668FC-31ED-14C6-A497-150FBA14E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3CDEF67-CD83-883E-4ACD-9ECAA6D2C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9AD7B-43F9-4AE4-B349-DD4B85E921A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182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alparslansati@icloud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EC9817-4F04-7BEE-ED80-7219569CA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7226" y="194755"/>
            <a:ext cx="8422640" cy="950277"/>
          </a:xfrm>
        </p:spPr>
        <p:txBody>
          <a:bodyPr/>
          <a:lstStyle/>
          <a:p>
            <a:r>
              <a:rPr lang="tr-TR" dirty="0"/>
              <a:t>AKILLI MATKAP  (AKMAT)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0BB8D3A-4F9A-85CF-3D11-8C6FBE9E1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1426" y="1372115"/>
            <a:ext cx="9083040" cy="573722"/>
          </a:xfrm>
        </p:spPr>
        <p:txBody>
          <a:bodyPr>
            <a:noAutofit/>
          </a:bodyPr>
          <a:lstStyle/>
          <a:p>
            <a:r>
              <a:rPr lang="tr-TR" sz="3500" dirty="0" err="1"/>
              <a:t>IoT</a:t>
            </a:r>
            <a:r>
              <a:rPr lang="tr-TR" sz="3500" dirty="0"/>
              <a:t> Tabanlı Güvenli ve Hassas Delme Sistemi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39BA4DF-DB0F-5A3E-66DD-51AFE18328D4}"/>
              </a:ext>
            </a:extLst>
          </p:cNvPr>
          <p:cNvSpPr txBox="1"/>
          <p:nvPr/>
        </p:nvSpPr>
        <p:spPr>
          <a:xfrm>
            <a:off x="6096000" y="2674035"/>
            <a:ext cx="46604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   HAZIRLAYAN</a:t>
            </a:r>
          </a:p>
          <a:p>
            <a:r>
              <a:rPr lang="tr-TR" sz="2800" dirty="0"/>
              <a:t>ALPARSLAN SATI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C1E8690-8007-6429-D673-7ACCB41DD24F}"/>
              </a:ext>
            </a:extLst>
          </p:cNvPr>
          <p:cNvSpPr txBox="1"/>
          <p:nvPr/>
        </p:nvSpPr>
        <p:spPr>
          <a:xfrm>
            <a:off x="5603767" y="3922839"/>
            <a:ext cx="56449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              KURUM</a:t>
            </a:r>
          </a:p>
          <a:p>
            <a:r>
              <a:rPr lang="tr-TR" sz="2800" dirty="0"/>
              <a:t>    EGE ÜNİVERSİTESİ</a:t>
            </a:r>
          </a:p>
          <a:p>
            <a:r>
              <a:rPr lang="tr-TR" sz="2800" dirty="0"/>
              <a:t>MESLEK YÜKSEKOKULU</a:t>
            </a:r>
          </a:p>
        </p:txBody>
      </p:sp>
      <p:pic>
        <p:nvPicPr>
          <p:cNvPr id="11" name="Resim 10" descr="grafik, metin, logo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E4A2B1B-EE85-8929-6633-B55701FAE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866" y="147856"/>
            <a:ext cx="1018539" cy="1018539"/>
          </a:xfrm>
          <a:prstGeom prst="rect">
            <a:avLst/>
          </a:prstGeom>
        </p:spPr>
      </p:pic>
      <p:pic>
        <p:nvPicPr>
          <p:cNvPr id="13" name="Resim 12" descr="amblem, logo, simge, sembol, dai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E602BC9-F91B-1B66-458A-38C5D0B810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368" y="1372115"/>
            <a:ext cx="1137534" cy="101530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928FB9CC-6D18-D599-7086-E47CE8388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122" y="2802194"/>
            <a:ext cx="5060848" cy="3313471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8EFEE0C9-CCDB-5FD6-6788-461097AA5B8A}"/>
              </a:ext>
            </a:extLst>
          </p:cNvPr>
          <p:cNvSpPr txBox="1"/>
          <p:nvPr/>
        </p:nvSpPr>
        <p:spPr>
          <a:xfrm>
            <a:off x="1664168" y="6194323"/>
            <a:ext cx="1986116" cy="38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(Temsili değildir.)</a:t>
            </a:r>
          </a:p>
        </p:txBody>
      </p:sp>
    </p:spTree>
    <p:extLst>
      <p:ext uri="{BB962C8B-B14F-4D97-AF65-F5344CB8AC3E}">
        <p14:creationId xmlns:p14="http://schemas.microsoft.com/office/powerpoint/2010/main" val="429061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520B10-F5FA-1919-C220-98DA26E6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93039"/>
            <a:ext cx="3845560" cy="975995"/>
          </a:xfrm>
        </p:spPr>
        <p:txBody>
          <a:bodyPr/>
          <a:lstStyle/>
          <a:p>
            <a:r>
              <a:rPr lang="tr-TR" dirty="0"/>
              <a:t>AKMAT NEDİR?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C02C489-1BC2-FCC6-DEE0-A7DCD4A7C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440" y="2150745"/>
            <a:ext cx="9707880" cy="1202055"/>
          </a:xfrm>
        </p:spPr>
        <p:txBody>
          <a:bodyPr>
            <a:normAutofit lnSpcReduction="10000"/>
          </a:bodyPr>
          <a:lstStyle/>
          <a:p>
            <a:pPr algn="just"/>
            <a:r>
              <a:rPr lang="tr-TR" dirty="0"/>
              <a:t>AKMAT, piyasada bulunan standart bir el matkabına entegre edilen, delme işlemini </a:t>
            </a:r>
            <a:r>
              <a:rPr lang="tr-TR" b="1" dirty="0"/>
              <a:t>"akıllı, güvenli ve kontrollü"</a:t>
            </a:r>
            <a:r>
              <a:rPr lang="tr-TR" dirty="0"/>
              <a:t> hale getiren </a:t>
            </a:r>
            <a:r>
              <a:rPr lang="tr-TR" dirty="0" err="1"/>
              <a:t>IoT</a:t>
            </a:r>
            <a:r>
              <a:rPr lang="tr-TR" dirty="0"/>
              <a:t> tabanlı bir otomasyon sistemidir.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8C63D23-48E6-C435-06D5-06CF29C04E92}"/>
              </a:ext>
            </a:extLst>
          </p:cNvPr>
          <p:cNvSpPr txBox="1"/>
          <p:nvPr/>
        </p:nvSpPr>
        <p:spPr>
          <a:xfrm>
            <a:off x="375920" y="3352800"/>
            <a:ext cx="11216640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800" b="1" dirty="0"/>
              <a:t>Temel Özellikleri:</a:t>
            </a:r>
          </a:p>
          <a:p>
            <a:pPr algn="just"/>
            <a:r>
              <a:rPr lang="tr-TR" sz="2500" b="1" dirty="0"/>
              <a:t>Mevcut Matkaba Uygulanabilir: </a:t>
            </a:r>
            <a:r>
              <a:rPr lang="tr-TR" sz="2500" dirty="0"/>
              <a:t>Yeni bir matkap üretimi değil, var olan cihazlara takılabilen bir modüldür.</a:t>
            </a:r>
          </a:p>
          <a:p>
            <a:pPr algn="just"/>
            <a:r>
              <a:rPr lang="tr-TR" sz="2500" b="1" dirty="0"/>
              <a:t>Akıllı Derinlik Kontrolü</a:t>
            </a:r>
            <a:r>
              <a:rPr lang="tr-TR" sz="2500" dirty="0"/>
              <a:t>: Kullanıcının belirlediği derinlikte matkabı otomatik durdurur.</a:t>
            </a:r>
          </a:p>
          <a:p>
            <a:pPr algn="just"/>
            <a:r>
              <a:rPr lang="tr-TR" sz="2500" b="1" dirty="0"/>
              <a:t>Gelişmiş Güvenlik</a:t>
            </a:r>
            <a:r>
              <a:rPr lang="tr-TR" sz="2500" dirty="0"/>
              <a:t>: Duvar içindeki görünmeyen elektrik hatlarını tespit eder ve delmeyi engeller.</a:t>
            </a:r>
          </a:p>
          <a:p>
            <a:pPr algn="just"/>
            <a:r>
              <a:rPr lang="tr-TR" sz="2500" b="1" dirty="0"/>
              <a:t>Uzaktan Yönetim</a:t>
            </a:r>
            <a:r>
              <a:rPr lang="tr-TR" sz="2500" dirty="0"/>
              <a:t>: </a:t>
            </a:r>
            <a:r>
              <a:rPr lang="tr-TR" sz="2500" dirty="0" err="1"/>
              <a:t>Wi</a:t>
            </a:r>
            <a:r>
              <a:rPr lang="tr-TR" sz="2500" dirty="0"/>
              <a:t>-Fi üzerinden telefon veya bilgisayar ile kontrol edilebilir.</a:t>
            </a:r>
          </a:p>
        </p:txBody>
      </p:sp>
      <p:pic>
        <p:nvPicPr>
          <p:cNvPr id="8" name="Resim 7" descr="kişi, şahıs, duvar, giyim, iç mek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F2E8B6A-EE56-7CF5-1F93-DE37553D4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007" y="376712"/>
            <a:ext cx="3658553" cy="158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1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7062A3-E0DC-D305-A2D6-6FE7CB02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040" y="80645"/>
            <a:ext cx="7487920" cy="752475"/>
          </a:xfrm>
        </p:spPr>
        <p:txBody>
          <a:bodyPr>
            <a:normAutofit fontScale="90000"/>
          </a:bodyPr>
          <a:lstStyle/>
          <a:p>
            <a:r>
              <a:rPr lang="da-DK" dirty="0"/>
              <a:t>Problemin Tanımı ve Projenin Amacı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9273420-9E28-7DB6-A191-9436EAE39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80" y="2699385"/>
            <a:ext cx="10266680" cy="1603375"/>
          </a:xfrm>
        </p:spPr>
        <p:txBody>
          <a:bodyPr>
            <a:normAutofit fontScale="92500"/>
          </a:bodyPr>
          <a:lstStyle/>
          <a:p>
            <a:pPr algn="just"/>
            <a:r>
              <a:rPr lang="tr-TR" sz="2500" b="1" dirty="0"/>
              <a:t>Mevcut Sorun: </a:t>
            </a:r>
            <a:r>
              <a:rPr lang="tr-TR" sz="2500" dirty="0"/>
              <a:t>Manuel delme işlemlerinde sıkça yaşanan derinlik hataları ve duvar içindeki görünmeyen tesisatlara (</a:t>
            </a:r>
            <a:r>
              <a:rPr lang="tr-TR" sz="2500" dirty="0" err="1"/>
              <a:t>elektrik,su</a:t>
            </a:r>
            <a:r>
              <a:rPr lang="tr-TR" sz="2500" dirty="0"/>
              <a:t>) zarar verme riski.</a:t>
            </a:r>
          </a:p>
          <a:p>
            <a:pPr algn="just"/>
            <a:r>
              <a:rPr lang="tr-TR" sz="2500" b="1" dirty="0"/>
              <a:t>Risk: </a:t>
            </a:r>
            <a:r>
              <a:rPr lang="tr-TR" sz="2500" dirty="0"/>
              <a:t>İş kazaları ve yüksek tadilat maliyetleri. </a:t>
            </a:r>
            <a:r>
              <a:rPr lang="tr-TR" sz="2500" b="1" dirty="0"/>
              <a:t>(İş kazalarının %30'u el aletlerinden kaynaklanmaktadır)[1].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09AAC1-6987-75E4-9D7A-9B050B19355B}"/>
              </a:ext>
            </a:extLst>
          </p:cNvPr>
          <p:cNvSpPr txBox="1"/>
          <p:nvPr/>
        </p:nvSpPr>
        <p:spPr>
          <a:xfrm>
            <a:off x="660400" y="4302760"/>
            <a:ext cx="999744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500" b="1" dirty="0"/>
              <a:t>Çözümümüz (AKMAT): </a:t>
            </a:r>
            <a:r>
              <a:rPr lang="tr-TR" sz="2500" dirty="0"/>
              <a:t>Mevcut matkaplara entegre edilebilen, </a:t>
            </a:r>
            <a:r>
              <a:rPr lang="tr-TR" sz="2500" dirty="0" err="1"/>
              <a:t>IoT</a:t>
            </a:r>
            <a:r>
              <a:rPr lang="tr-TR" sz="2500" dirty="0"/>
              <a:t> destekli bir güvenlik ve kontrol modülü geliştirmek.</a:t>
            </a:r>
          </a:p>
          <a:p>
            <a:pPr algn="just"/>
            <a:r>
              <a:rPr lang="tr-TR" sz="2500" b="1" dirty="0"/>
              <a:t>Hedef:</a:t>
            </a:r>
          </a:p>
          <a:p>
            <a:pPr algn="just"/>
            <a:r>
              <a:rPr lang="tr-TR" sz="2500" dirty="0"/>
              <a:t>Ultrasonik sensör ile milimetrik derinlik kontrolü sağlamak.</a:t>
            </a:r>
          </a:p>
          <a:p>
            <a:pPr algn="just"/>
            <a:r>
              <a:rPr lang="tr-TR" sz="2500" dirty="0"/>
              <a:t>NCVT sensörü ile elektrik hatlarını tespit edip kazaları önlemek.</a:t>
            </a:r>
          </a:p>
        </p:txBody>
      </p:sp>
      <p:pic>
        <p:nvPicPr>
          <p:cNvPr id="6" name="Resim 5" descr="su, matkap, alet, elektrikli matkap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C6A9984-95AA-CD12-4BBF-B7DA8579C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040" y="833120"/>
            <a:ext cx="3942080" cy="1719327"/>
          </a:xfrm>
          <a:prstGeom prst="rect">
            <a:avLst/>
          </a:prstGeom>
        </p:spPr>
      </p:pic>
      <p:pic>
        <p:nvPicPr>
          <p:cNvPr id="12" name="Resim 11" descr="ofis malzemesi, alet, dolma kalem, ofis alet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23574E-CA23-9057-0855-CDA5FF6D6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1066800"/>
            <a:ext cx="3600175" cy="132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3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A9BF3B-65EC-FA6A-5E2D-FA20A994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520" y="395605"/>
            <a:ext cx="4465320" cy="864235"/>
          </a:xfrm>
        </p:spPr>
        <p:txBody>
          <a:bodyPr/>
          <a:lstStyle/>
          <a:p>
            <a:r>
              <a:rPr lang="tr-TR" dirty="0"/>
              <a:t>NEDEN AKMAT?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536A82-6021-5E87-6DF5-047F4B1F6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211105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tr-TR" b="1" dirty="0"/>
              <a:t>Piyasadaki Eksikler:</a:t>
            </a:r>
          </a:p>
          <a:p>
            <a:pPr marL="0" indent="0" algn="just">
              <a:buNone/>
            </a:pPr>
            <a:r>
              <a:rPr lang="tr-TR" dirty="0"/>
              <a:t>❌ Standart profesyonel matkaplarda (</a:t>
            </a:r>
            <a:r>
              <a:rPr lang="tr-TR" dirty="0" err="1"/>
              <a:t>Örn</a:t>
            </a:r>
            <a:r>
              <a:rPr lang="tr-TR" dirty="0"/>
              <a:t>: Bosch GSB 18V-50, </a:t>
            </a:r>
            <a:r>
              <a:rPr lang="tr-TR" dirty="0" err="1"/>
              <a:t>Makita</a:t>
            </a:r>
            <a:r>
              <a:rPr lang="tr-TR" dirty="0"/>
              <a:t> DHP482) otomatik derinlik durdurma özelliği bulunmaz [4, 5].</a:t>
            </a:r>
          </a:p>
          <a:p>
            <a:pPr marL="0" indent="0" algn="just">
              <a:buNone/>
            </a:pPr>
            <a:r>
              <a:rPr lang="tr-TR" dirty="0"/>
              <a:t>❌ Elektrik hattı tespiti için matkap haricinde ek bir cihaz (NCVT) taşınması gerekir.</a:t>
            </a:r>
          </a:p>
          <a:p>
            <a:pPr marL="0" indent="0" algn="just">
              <a:buNone/>
            </a:pPr>
            <a:r>
              <a:rPr lang="tr-TR" dirty="0"/>
              <a:t>❌ Mevcut ürünlerde [6] uzaktan izleme ve </a:t>
            </a:r>
            <a:r>
              <a:rPr lang="tr-TR" dirty="0" err="1"/>
              <a:t>IoT</a:t>
            </a:r>
            <a:r>
              <a:rPr lang="tr-TR" dirty="0"/>
              <a:t> kontrol özelliği yoktur.</a:t>
            </a:r>
          </a:p>
          <a:p>
            <a:pPr marL="0" indent="0" algn="just">
              <a:buNone/>
            </a:pPr>
            <a:r>
              <a:rPr lang="tr-TR" b="1" dirty="0" err="1"/>
              <a:t>AKMAT’ın</a:t>
            </a:r>
            <a:r>
              <a:rPr lang="tr-TR" b="1" dirty="0"/>
              <a:t> Farkı:</a:t>
            </a:r>
          </a:p>
          <a:p>
            <a:pPr marL="0" indent="0" algn="just">
              <a:buNone/>
            </a:pPr>
            <a:r>
              <a:rPr lang="tr-TR" dirty="0"/>
              <a:t>✔ Entegre Güvenlik: NCVT ile elektrik hattını anında algılar.</a:t>
            </a:r>
          </a:p>
          <a:p>
            <a:pPr marL="0" indent="0" algn="just">
              <a:buNone/>
            </a:pPr>
            <a:r>
              <a:rPr lang="tr-TR" dirty="0"/>
              <a:t>✔ Akıllı Derinlik Kontrolü: Milimetrik hassasiyetle durdurur .</a:t>
            </a:r>
          </a:p>
          <a:p>
            <a:pPr marL="0" indent="0" algn="just">
              <a:buNone/>
            </a:pPr>
            <a:r>
              <a:rPr lang="tr-TR" dirty="0"/>
              <a:t>✔ Ekonomik: Yeni matkap almaya gerek yok, mevcut cihaza takılır.</a:t>
            </a:r>
          </a:p>
        </p:txBody>
      </p:sp>
      <p:pic>
        <p:nvPicPr>
          <p:cNvPr id="10" name="Resim 9" descr="matkap, alet, elektrikli alet, makin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D3021A-A979-B2D0-0A9F-B6BA42063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193041"/>
            <a:ext cx="4070063" cy="1918016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AD7BC41C-82A1-E7B5-8586-971BBE328416}"/>
              </a:ext>
            </a:extLst>
          </p:cNvPr>
          <p:cNvSpPr txBox="1"/>
          <p:nvPr/>
        </p:nvSpPr>
        <p:spPr>
          <a:xfrm>
            <a:off x="8278270" y="2111057"/>
            <a:ext cx="1986116" cy="38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(Temsili değildir.)</a:t>
            </a:r>
          </a:p>
        </p:txBody>
      </p:sp>
    </p:spTree>
    <p:extLst>
      <p:ext uri="{BB962C8B-B14F-4D97-AF65-F5344CB8AC3E}">
        <p14:creationId xmlns:p14="http://schemas.microsoft.com/office/powerpoint/2010/main" val="388989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6ED917-538C-5E56-7A66-A640E9AE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080" y="203199"/>
            <a:ext cx="6776720" cy="955675"/>
          </a:xfrm>
        </p:spPr>
        <p:txBody>
          <a:bodyPr/>
          <a:lstStyle/>
          <a:p>
            <a:r>
              <a:rPr lang="tr-TR" dirty="0"/>
              <a:t>Sistem Mimarisi ve Donanım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39B4B0E-AA9C-3292-AA99-7D86961E1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0" y="1022985"/>
            <a:ext cx="9382760" cy="33966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500" b="1" dirty="0"/>
              <a:t>Ana Kontrolcü: </a:t>
            </a:r>
            <a:r>
              <a:rPr lang="tr-TR" sz="2500" dirty="0"/>
              <a:t>ESP32-WROOM-32 (</a:t>
            </a:r>
            <a:r>
              <a:rPr lang="tr-TR" sz="2500" dirty="0" err="1"/>
              <a:t>Wi</a:t>
            </a:r>
            <a:r>
              <a:rPr lang="tr-TR" sz="2500" dirty="0"/>
              <a:t>-Fi ve Bluetooth özellikli güçlü mikrodenetleyici[2]).</a:t>
            </a:r>
          </a:p>
          <a:p>
            <a:pPr marL="0" indent="0" algn="just">
              <a:buNone/>
            </a:pPr>
            <a:r>
              <a:rPr lang="tr-TR" sz="2500" b="1" dirty="0"/>
              <a:t>Mesafe Ölçümü: </a:t>
            </a:r>
            <a:r>
              <a:rPr lang="tr-TR" sz="2500" dirty="0"/>
              <a:t>HC-SR04 Ultrasonik Sensör (±3mm hassasiyet için Medyan Filtre algoritması uygulandı[3]).</a:t>
            </a:r>
          </a:p>
          <a:p>
            <a:pPr marL="0" indent="0" algn="just">
              <a:buNone/>
            </a:pPr>
            <a:r>
              <a:rPr lang="tr-TR" sz="2500" b="1" dirty="0"/>
              <a:t>Güvenlik: </a:t>
            </a:r>
            <a:r>
              <a:rPr lang="tr-TR" sz="2500" dirty="0"/>
              <a:t>NCVT (Temassız Voltaj Dedektörü) ile aktif elektrik hattı algılama.</a:t>
            </a:r>
          </a:p>
          <a:p>
            <a:pPr marL="0" indent="0" algn="just">
              <a:buNone/>
            </a:pPr>
            <a:r>
              <a:rPr lang="tr-TR" sz="2500" b="1" dirty="0"/>
              <a:t>Güç Kontrolü: </a:t>
            </a:r>
            <a:r>
              <a:rPr lang="tr-TR" sz="2500" dirty="0"/>
              <a:t>Röle sürücü devresi ile tehlike anında veya hedef derinlikte matkabın enerjisini otomatik kesme.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8F7E649-7450-105C-FAE1-43B093822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1" y="4348480"/>
            <a:ext cx="4860622" cy="2072639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2DE2271C-84E9-8F47-F395-8CBB412B2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005" y="4348480"/>
            <a:ext cx="2164268" cy="1682642"/>
          </a:xfrm>
          <a:prstGeom prst="rect">
            <a:avLst/>
          </a:prstGeom>
        </p:spPr>
      </p:pic>
      <p:pic>
        <p:nvPicPr>
          <p:cNvPr id="10" name="Resim 9" descr="hoparlö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5E8C716-5A3C-22AD-67BA-CBD0B3E8B9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57" y="4348479"/>
            <a:ext cx="2602623" cy="16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3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F6EABD-A876-22B4-46BD-4B3FB0CE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280" y="167639"/>
            <a:ext cx="8488680" cy="1026795"/>
          </a:xfrm>
        </p:spPr>
        <p:txBody>
          <a:bodyPr/>
          <a:lstStyle/>
          <a:p>
            <a:r>
              <a:rPr lang="tr-TR" dirty="0"/>
              <a:t>Yazılım Algoritması ve Web Arayüzü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C4A0FE-10F2-7A45-EF15-4AD575CC5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580" y="1831281"/>
            <a:ext cx="9519920" cy="2067034"/>
          </a:xfrm>
        </p:spPr>
        <p:txBody>
          <a:bodyPr>
            <a:normAutofit lnSpcReduction="10000"/>
          </a:bodyPr>
          <a:lstStyle/>
          <a:p>
            <a:pPr algn="just"/>
            <a:r>
              <a:rPr lang="tr-TR" b="1" dirty="0" err="1"/>
              <a:t>IoT</a:t>
            </a:r>
            <a:r>
              <a:rPr lang="tr-TR" b="1" dirty="0"/>
              <a:t> Entegrasyonu: </a:t>
            </a:r>
            <a:r>
              <a:rPr lang="tr-TR" dirty="0"/>
              <a:t>Cihaz </a:t>
            </a:r>
            <a:r>
              <a:rPr lang="tr-TR" dirty="0" err="1"/>
              <a:t>Wi</a:t>
            </a:r>
            <a:r>
              <a:rPr lang="tr-TR" dirty="0"/>
              <a:t>-Fi üzerinden ağa bağlanır ve kendi Web Sunucusunu (Web Server) oluşturur.</a:t>
            </a:r>
          </a:p>
          <a:p>
            <a:pPr algn="just"/>
            <a:r>
              <a:rPr lang="tr-TR" b="1" dirty="0"/>
              <a:t>Web Arayüzü: </a:t>
            </a:r>
            <a:r>
              <a:rPr lang="tr-TR" dirty="0"/>
              <a:t>Telefon veya bilgisayar tarayıcısından erişilebilir. Kullanıcı buradan "Hedef Derinliği" ayarlar ve anlık durumu izler.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667F2ED1-5D2D-7A79-4056-901C2BFF9EF4}"/>
              </a:ext>
            </a:extLst>
          </p:cNvPr>
          <p:cNvSpPr txBox="1"/>
          <p:nvPr/>
        </p:nvSpPr>
        <p:spPr>
          <a:xfrm>
            <a:off x="152400" y="3905350"/>
            <a:ext cx="79349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800" b="1" dirty="0"/>
              <a:t>Çalışma Mantığı:</a:t>
            </a:r>
          </a:p>
          <a:p>
            <a:pPr algn="just"/>
            <a:r>
              <a:rPr lang="tr-TR" sz="2800" dirty="0"/>
              <a:t>Sistem sürekli mesafe ve voltaj verisini okur.</a:t>
            </a:r>
          </a:p>
          <a:p>
            <a:pPr algn="just"/>
            <a:r>
              <a:rPr lang="tr-TR" sz="2800" dirty="0"/>
              <a:t>Hedef derinliğe ulaşınca -&gt; Röle Kapanır.</a:t>
            </a:r>
          </a:p>
          <a:p>
            <a:pPr algn="just"/>
            <a:r>
              <a:rPr lang="tr-TR" sz="2800" dirty="0"/>
              <a:t>Elektrik algılanınca -&gt; Röle Kapanır + Uyarı verilir.</a:t>
            </a:r>
          </a:p>
        </p:txBody>
      </p:sp>
      <p:pic>
        <p:nvPicPr>
          <p:cNvPr id="15" name="Resim 14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E3AA0EC-6FF9-BDD2-9656-3203EF0A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480" y="3596640"/>
            <a:ext cx="4541520" cy="309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0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7B5A84F-646D-7966-81A5-E99F5E8DC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360" y="589280"/>
            <a:ext cx="4023985" cy="602996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BF932E4F-3320-EA09-10DF-3907C1DF6BB0}"/>
              </a:ext>
            </a:extLst>
          </p:cNvPr>
          <p:cNvSpPr txBox="1"/>
          <p:nvPr/>
        </p:nvSpPr>
        <p:spPr>
          <a:xfrm>
            <a:off x="2251851" y="66060"/>
            <a:ext cx="552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WEB ARAYÜZ UYGULAMASI</a:t>
            </a:r>
          </a:p>
        </p:txBody>
      </p:sp>
      <p:pic>
        <p:nvPicPr>
          <p:cNvPr id="7" name="Resim 6" descr="metin, diyagram, çizgi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BA9E6D2-8459-427D-9157-A2A9ACFF6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406" y="589280"/>
            <a:ext cx="2209821" cy="2839720"/>
          </a:xfrm>
          <a:prstGeom prst="rect">
            <a:avLst/>
          </a:prstGeom>
        </p:spPr>
      </p:pic>
      <p:pic>
        <p:nvPicPr>
          <p:cNvPr id="8" name="Resim 7" descr="metin, diyagram, çizgi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C719BE5-0035-5E2D-B35F-41E79F9068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407" y="3429000"/>
            <a:ext cx="2209820" cy="3190240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CE5FA13C-BDA8-FCD9-25D0-64ED22C7A283}"/>
              </a:ext>
            </a:extLst>
          </p:cNvPr>
          <p:cNvSpPr txBox="1"/>
          <p:nvPr/>
        </p:nvSpPr>
        <p:spPr>
          <a:xfrm>
            <a:off x="7922396" y="66060"/>
            <a:ext cx="3050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AKIŞ DİYAGRAMI</a:t>
            </a:r>
          </a:p>
        </p:txBody>
      </p:sp>
    </p:spTree>
    <p:extLst>
      <p:ext uri="{BB962C8B-B14F-4D97-AF65-F5344CB8AC3E}">
        <p14:creationId xmlns:p14="http://schemas.microsoft.com/office/powerpoint/2010/main" val="83252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DD35E1-04A0-F677-8592-F7C1818A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880" y="395605"/>
            <a:ext cx="9779000" cy="1325563"/>
          </a:xfrm>
        </p:spPr>
        <p:txBody>
          <a:bodyPr/>
          <a:lstStyle/>
          <a:p>
            <a:r>
              <a:rPr lang="tr-TR" dirty="0"/>
              <a:t>RİSK YÖNETİMİ VE GELECEK HEDEFLERİ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A8EF97-31FE-A41F-0665-F1869620D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Karşılaşılan Riskler ve Çözümler:</a:t>
            </a:r>
          </a:p>
          <a:p>
            <a:r>
              <a:rPr lang="tr-TR" dirty="0"/>
              <a:t>⚠️ Sensör Gürültüsü: Medyan Filtre algoritması ile çözüldü </a:t>
            </a:r>
            <a:r>
              <a:rPr lang="tr-TR" b="1" dirty="0"/>
              <a:t>[3]</a:t>
            </a:r>
            <a:r>
              <a:rPr lang="tr-TR" dirty="0"/>
              <a:t>.</a:t>
            </a:r>
          </a:p>
          <a:p>
            <a:r>
              <a:rPr lang="tr-TR" dirty="0"/>
              <a:t>⚠️ Hatalı Ölçüm: Yazılımsal eşik değer optimizasyonu yapıldı .</a:t>
            </a:r>
          </a:p>
          <a:p>
            <a:pPr marL="0" indent="0">
              <a:buNone/>
            </a:pPr>
            <a:r>
              <a:rPr lang="tr-TR" b="1" dirty="0"/>
              <a:t>Gelecek Hedefleri (v2.0):</a:t>
            </a:r>
          </a:p>
          <a:p>
            <a:r>
              <a:rPr lang="tr-TR" dirty="0"/>
              <a:t>🔧 Mobil Uygulama (Android/iOS) geliştirmesi.</a:t>
            </a:r>
          </a:p>
          <a:p>
            <a:r>
              <a:rPr lang="tr-TR" dirty="0"/>
              <a:t>🎯 LIDAR Sensör ile daha yüksek hassasiyet (±1 mm).</a:t>
            </a:r>
          </a:p>
          <a:p>
            <a:r>
              <a:rPr lang="tr-TR" dirty="0"/>
              <a:t>🧠 Yapay Zeka ile malzeme tanıma (Beton/Ahşap ayrımı).</a:t>
            </a:r>
          </a:p>
        </p:txBody>
      </p:sp>
    </p:spTree>
    <p:extLst>
      <p:ext uri="{BB962C8B-B14F-4D97-AF65-F5344CB8AC3E}">
        <p14:creationId xmlns:p14="http://schemas.microsoft.com/office/powerpoint/2010/main" val="357629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522B50-73CC-495C-64A9-9B0F56E3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560" y="487045"/>
            <a:ext cx="4384040" cy="752475"/>
          </a:xfrm>
        </p:spPr>
        <p:txBody>
          <a:bodyPr/>
          <a:lstStyle/>
          <a:p>
            <a:r>
              <a:rPr lang="tr-TR" dirty="0"/>
              <a:t>Bulgular ve Sonuç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6BFAED-A2FD-4424-0721-F3FC1A61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b="1" dirty="0"/>
              <a:t>Başarı: </a:t>
            </a:r>
            <a:r>
              <a:rPr lang="tr-TR" dirty="0"/>
              <a:t>Geliştirilen prototip ile hedeflenen derinlikte matkap otomatik olarak durdurulmuştur.</a:t>
            </a:r>
          </a:p>
          <a:p>
            <a:pPr algn="just"/>
            <a:r>
              <a:rPr lang="tr-TR" b="1" dirty="0"/>
              <a:t>Güvenlik: </a:t>
            </a:r>
            <a:r>
              <a:rPr lang="tr-TR" dirty="0"/>
              <a:t>Duvar arkasındaki elektrik kabloları başarıyla tespit edilmiş ve sistem kendini kilitleyerek kullanıcıyı korumuştur.</a:t>
            </a:r>
          </a:p>
          <a:p>
            <a:pPr algn="just"/>
            <a:r>
              <a:rPr lang="tr-TR" b="1" dirty="0"/>
              <a:t>Filtreleme: </a:t>
            </a:r>
            <a:r>
              <a:rPr lang="tr-TR" dirty="0"/>
              <a:t>Sensör verilerindeki gürültü, yazılımsal filtreler ile temizlenerek kararlı ölçüm sağlanmıştır.</a:t>
            </a:r>
          </a:p>
          <a:p>
            <a:pPr algn="just"/>
            <a:r>
              <a:rPr lang="tr-TR" sz="3200" b="1" dirty="0"/>
              <a:t>Son Söz: </a:t>
            </a:r>
            <a:r>
              <a:rPr lang="tr-TR" dirty="0"/>
              <a:t>AKMAT, hem endüstriyel hem de ev tipi kullanıma uygun, düşük maliyetli ve hayat kurtarıcı bir </a:t>
            </a:r>
            <a:r>
              <a:rPr lang="tr-TR" dirty="0" err="1"/>
              <a:t>IoT</a:t>
            </a:r>
            <a:r>
              <a:rPr lang="tr-TR" dirty="0"/>
              <a:t> çözümüdür.</a:t>
            </a:r>
          </a:p>
        </p:txBody>
      </p:sp>
    </p:spTree>
    <p:extLst>
      <p:ext uri="{BB962C8B-B14F-4D97-AF65-F5344CB8AC3E}">
        <p14:creationId xmlns:p14="http://schemas.microsoft.com/office/powerpoint/2010/main" val="275198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73CFD03-116B-2CC9-1B82-C114D209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180" y="325120"/>
            <a:ext cx="10995660" cy="6278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3000" b="1" dirty="0"/>
              <a:t>                                                       KAYNAKLAR</a:t>
            </a:r>
          </a:p>
          <a:p>
            <a:pPr algn="just"/>
            <a:r>
              <a:rPr lang="tr-TR" sz="2500" b="1" dirty="0"/>
              <a:t>[1] </a:t>
            </a:r>
            <a:r>
              <a:rPr lang="tr-TR" sz="2500" b="1" dirty="0" err="1"/>
              <a:t>Turkishtime</a:t>
            </a:r>
            <a:r>
              <a:rPr lang="tr-TR" sz="2500" b="1" dirty="0"/>
              <a:t> Dergisi. (2015). "İş kazalarının yüzde 30'u el aletlerinden kaynaklanıyor".</a:t>
            </a:r>
          </a:p>
          <a:p>
            <a:pPr algn="just"/>
            <a:r>
              <a:rPr lang="tr-TR" sz="2500" b="1" dirty="0"/>
              <a:t>[2] </a:t>
            </a:r>
            <a:r>
              <a:rPr lang="tr-TR" sz="2500" b="1" dirty="0" err="1"/>
              <a:t>Espressif</a:t>
            </a:r>
            <a:r>
              <a:rPr lang="tr-TR" sz="2500" b="1" dirty="0"/>
              <a:t> </a:t>
            </a:r>
            <a:r>
              <a:rPr lang="tr-TR" sz="2500" b="1" dirty="0" err="1"/>
              <a:t>Systems</a:t>
            </a:r>
            <a:r>
              <a:rPr lang="tr-TR" sz="2500" b="1" dirty="0"/>
              <a:t>. (2025). "ESP32-WROOM-32 </a:t>
            </a:r>
            <a:r>
              <a:rPr lang="tr-TR" sz="2500" b="1" dirty="0" err="1"/>
              <a:t>Datasheet</a:t>
            </a:r>
            <a:r>
              <a:rPr lang="tr-TR" sz="2500" b="1" dirty="0"/>
              <a:t>".</a:t>
            </a:r>
          </a:p>
          <a:p>
            <a:pPr algn="just"/>
            <a:r>
              <a:rPr lang="tr-TR" sz="2500" b="1" dirty="0"/>
              <a:t>[3] J. W. </a:t>
            </a:r>
            <a:r>
              <a:rPr lang="tr-TR" sz="2500" b="1" dirty="0" err="1"/>
              <a:t>Tukey</a:t>
            </a:r>
            <a:r>
              <a:rPr lang="tr-TR" sz="2500" b="1" dirty="0"/>
              <a:t>. (1974). "</a:t>
            </a:r>
            <a:r>
              <a:rPr lang="tr-TR" sz="2500" b="1" dirty="0" err="1"/>
              <a:t>Nonlinear</a:t>
            </a:r>
            <a:r>
              <a:rPr lang="tr-TR" sz="2500" b="1" dirty="0"/>
              <a:t> (</a:t>
            </a:r>
            <a:r>
              <a:rPr lang="tr-TR" sz="2500" b="1" dirty="0" err="1"/>
              <a:t>Nonsuperposable</a:t>
            </a:r>
            <a:r>
              <a:rPr lang="tr-TR" sz="2500" b="1" dirty="0"/>
              <a:t>) </a:t>
            </a:r>
            <a:r>
              <a:rPr lang="tr-TR" sz="2500" b="1" dirty="0" err="1"/>
              <a:t>Methods</a:t>
            </a:r>
            <a:r>
              <a:rPr lang="tr-TR" sz="2500" b="1" dirty="0"/>
              <a:t> </a:t>
            </a:r>
            <a:r>
              <a:rPr lang="tr-TR" sz="2500" b="1" dirty="0" err="1"/>
              <a:t>for</a:t>
            </a:r>
            <a:r>
              <a:rPr lang="tr-TR" sz="2500" b="1" dirty="0"/>
              <a:t> </a:t>
            </a:r>
            <a:r>
              <a:rPr lang="tr-TR" sz="2500" b="1" dirty="0" err="1"/>
              <a:t>Smoothing</a:t>
            </a:r>
            <a:r>
              <a:rPr lang="tr-TR" sz="2500" b="1" dirty="0"/>
              <a:t> Data".</a:t>
            </a:r>
          </a:p>
          <a:p>
            <a:pPr algn="just"/>
            <a:r>
              <a:rPr lang="tr-TR" sz="2500" b="1" dirty="0"/>
              <a:t>[4] Bosch Professional. (2024). "GSB 18V-50 Akülü Darbeli Delme/Vidalama Makinesi Teknik Verileri". Erişim: bosch-professional.com</a:t>
            </a:r>
          </a:p>
          <a:p>
            <a:pPr algn="just"/>
            <a:r>
              <a:rPr lang="tr-TR" sz="2500" b="1" dirty="0"/>
              <a:t>[5] </a:t>
            </a:r>
            <a:r>
              <a:rPr lang="tr-TR" sz="2500" b="1" dirty="0" err="1"/>
              <a:t>Makita</a:t>
            </a:r>
            <a:r>
              <a:rPr lang="tr-TR" sz="2500" b="1" dirty="0"/>
              <a:t> Corporation. (2024). "DHP482 Cordless </a:t>
            </a:r>
            <a:r>
              <a:rPr lang="tr-TR" sz="2500" b="1" dirty="0" err="1"/>
              <a:t>Hammer</a:t>
            </a:r>
            <a:r>
              <a:rPr lang="tr-TR" sz="2500" b="1" dirty="0"/>
              <a:t> Driver </a:t>
            </a:r>
            <a:r>
              <a:rPr lang="tr-TR" sz="2500" b="1" dirty="0" err="1"/>
              <a:t>Drill</a:t>
            </a:r>
            <a:r>
              <a:rPr lang="tr-TR" sz="2500" b="1" dirty="0"/>
              <a:t> </a:t>
            </a:r>
            <a:r>
              <a:rPr lang="tr-TR" sz="2500" b="1" dirty="0" err="1"/>
              <a:t>Specifications</a:t>
            </a:r>
            <a:r>
              <a:rPr lang="tr-TR" sz="2500" b="1" dirty="0"/>
              <a:t>". Erişim: makitauk.com</a:t>
            </a:r>
          </a:p>
          <a:p>
            <a:pPr algn="just"/>
            <a:r>
              <a:rPr lang="tr-TR" sz="2500" b="1" dirty="0"/>
              <a:t>[6] </a:t>
            </a:r>
            <a:r>
              <a:rPr lang="tr-TR" sz="2500" b="1" dirty="0" err="1"/>
              <a:t>DeWalt</a:t>
            </a:r>
            <a:r>
              <a:rPr lang="tr-TR" sz="2500" b="1" dirty="0"/>
              <a:t>. (2024). "DCD771 20V MAX* Cordless Compact </a:t>
            </a:r>
            <a:r>
              <a:rPr lang="tr-TR" sz="2500" b="1" dirty="0" err="1"/>
              <a:t>Drill</a:t>
            </a:r>
            <a:r>
              <a:rPr lang="tr-TR" sz="2500" b="1" dirty="0"/>
              <a:t>/Driver Technical Data". Erişim: dewalt.com</a:t>
            </a:r>
          </a:p>
        </p:txBody>
      </p:sp>
    </p:spTree>
    <p:extLst>
      <p:ext uri="{BB962C8B-B14F-4D97-AF65-F5344CB8AC3E}">
        <p14:creationId xmlns:p14="http://schemas.microsoft.com/office/powerpoint/2010/main" val="170936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7BB444-D6DB-D9CE-5194-64D605D1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120" y="2234565"/>
            <a:ext cx="4495800" cy="1057275"/>
          </a:xfrm>
        </p:spPr>
        <p:txBody>
          <a:bodyPr>
            <a:normAutofit/>
          </a:bodyPr>
          <a:lstStyle/>
          <a:p>
            <a:r>
              <a:rPr lang="tr-TR" sz="5000" dirty="0"/>
              <a:t>TEŞEKKÜRLER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C078BA-0BE1-ED4B-99E4-4B8AA6F5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4840" y="3352800"/>
            <a:ext cx="7025640" cy="734695"/>
          </a:xfrm>
        </p:spPr>
        <p:txBody>
          <a:bodyPr/>
          <a:lstStyle/>
          <a:p>
            <a:r>
              <a:rPr lang="tr-TR" dirty="0"/>
              <a:t>E-posta: </a:t>
            </a:r>
            <a:r>
              <a:rPr lang="tr-TR" dirty="0">
                <a:hlinkClick r:id="rId3"/>
              </a:rPr>
              <a:t>alparslansati@icloud.com</a:t>
            </a:r>
            <a:endParaRPr lang="tr-TR" dirty="0"/>
          </a:p>
          <a:p>
            <a:endParaRPr lang="tr-TR" dirty="0"/>
          </a:p>
        </p:txBody>
      </p:sp>
      <p:pic>
        <p:nvPicPr>
          <p:cNvPr id="5" name="Resim 4" descr="ekran görüntüsü, grafik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94D0987-C9EF-E8C3-57AF-BC510C4F8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1" y="3953827"/>
            <a:ext cx="2316480" cy="2438401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A53FE774-E27A-E2A8-CFEF-9D1BE5117B7E}"/>
              </a:ext>
            </a:extLst>
          </p:cNvPr>
          <p:cNvSpPr txBox="1"/>
          <p:nvPr/>
        </p:nvSpPr>
        <p:spPr>
          <a:xfrm>
            <a:off x="2987041" y="5080000"/>
            <a:ext cx="66954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b="1" dirty="0"/>
              <a:t>LİNKEDİN PROFİLİM İÇİN TARATABİLİRSİNİZ.</a:t>
            </a:r>
          </a:p>
        </p:txBody>
      </p:sp>
    </p:spTree>
    <p:extLst>
      <p:ext uri="{BB962C8B-B14F-4D97-AF65-F5344CB8AC3E}">
        <p14:creationId xmlns:p14="http://schemas.microsoft.com/office/powerpoint/2010/main" val="63462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725</Words>
  <Application>Microsoft Office PowerPoint</Application>
  <PresentationFormat>Geniş ekran</PresentationFormat>
  <Paragraphs>70</Paragraphs>
  <Slides>11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Teması</vt:lpstr>
      <vt:lpstr>AKILLI MATKAP  (AKMAT)</vt:lpstr>
      <vt:lpstr>AKMAT NEDİR?</vt:lpstr>
      <vt:lpstr>Problemin Tanımı ve Projenin Amacı</vt:lpstr>
      <vt:lpstr>NEDEN AKMAT?</vt:lpstr>
      <vt:lpstr>Sistem Mimarisi ve Donanım</vt:lpstr>
      <vt:lpstr>Yazılım Algoritması ve Web Arayüzü</vt:lpstr>
      <vt:lpstr>PowerPoint Sunusu</vt:lpstr>
      <vt:lpstr>RİSK YÖNETİMİ VE GELECEK HEDEFLERİ</vt:lpstr>
      <vt:lpstr>Bulgular ve Sonuç</vt:lpstr>
      <vt:lpstr>PowerPoint Sunusu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Alparslan SATI</dc:creator>
  <cp:lastModifiedBy>Alparslan SATI</cp:lastModifiedBy>
  <cp:revision>12</cp:revision>
  <cp:lastPrinted>2025-12-03T08:12:22Z</cp:lastPrinted>
  <dcterms:created xsi:type="dcterms:W3CDTF">2025-12-03T05:54:39Z</dcterms:created>
  <dcterms:modified xsi:type="dcterms:W3CDTF">2025-12-09T21:38:36Z</dcterms:modified>
</cp:coreProperties>
</file>