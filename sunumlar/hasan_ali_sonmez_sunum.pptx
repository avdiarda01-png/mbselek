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6"/>
    </p:embeddedFont>
    <p:embeddedFont>
      <p:font typeface="Arimo Bold" charset="1" panose="020B0704020202020204"/>
      <p:regular r:id="rId17"/>
    </p:embeddedFont>
    <p:embeddedFont>
      <p:font typeface="Rubik Bubble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18939" y="5612910"/>
            <a:ext cx="4250123" cy="4250123"/>
          </a:xfrm>
          <a:custGeom>
            <a:avLst/>
            <a:gdLst/>
            <a:ahLst/>
            <a:cxnLst/>
            <a:rect r="r" b="b" t="t" l="l"/>
            <a:pathLst>
              <a:path h="4250123" w="4250123">
                <a:moveTo>
                  <a:pt x="0" y="0"/>
                </a:moveTo>
                <a:lnTo>
                  <a:pt x="4250122" y="0"/>
                </a:lnTo>
                <a:lnTo>
                  <a:pt x="4250122" y="4250123"/>
                </a:lnTo>
                <a:lnTo>
                  <a:pt x="0" y="4250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64447" y="1364331"/>
            <a:ext cx="9759107" cy="359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EGE ÜNİVERSİTESİ - BİTİRME PROJESİ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SU GUARD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Akıllı Su Seviyesi Kontrol Sistemi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Hazırlayan: Hasan Ali Sönmez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Danışman: Dr. Öğr. Üyesi Mustafa Berkant Selek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Bölüm: Elektronik Haberleşme Teknolojileri Bölümü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156" y="2566018"/>
            <a:ext cx="8315132" cy="4599584"/>
          </a:xfrm>
          <a:custGeom>
            <a:avLst/>
            <a:gdLst/>
            <a:ahLst/>
            <a:cxnLst/>
            <a:rect r="r" b="b" t="t" l="l"/>
            <a:pathLst>
              <a:path h="4599584" w="8315132">
                <a:moveTo>
                  <a:pt x="0" y="0"/>
                </a:moveTo>
                <a:lnTo>
                  <a:pt x="8315132" y="0"/>
                </a:lnTo>
                <a:lnTo>
                  <a:pt x="8315132" y="4599584"/>
                </a:lnTo>
                <a:lnTo>
                  <a:pt x="0" y="4599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4" t="0" r="-948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1401985"/>
            <a:ext cx="8941072" cy="73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  <a:spcBef>
                <a:spcPct val="0"/>
              </a:spcBef>
            </a:pPr>
            <a:r>
              <a:rPr lang="en-US" b="true" sz="4135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Neden SU GUARD?</a:t>
            </a:r>
          </a:p>
          <a:p>
            <a:pPr algn="ctr">
              <a:lnSpc>
                <a:spcPts val="4801"/>
              </a:lnSpc>
              <a:spcBef>
                <a:spcPct val="0"/>
              </a:spcBef>
            </a:pPr>
            <a:r>
              <a:rPr lang="en-US" sz="34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Gereksiz Kayıp: Su taşmaları, önemli enerji ve kaynak israfına yol açar.</a:t>
            </a:r>
          </a:p>
          <a:p>
            <a:pPr algn="ctr">
              <a:lnSpc>
                <a:spcPts val="4801"/>
              </a:lnSpc>
              <a:spcBef>
                <a:spcPct val="0"/>
              </a:spcBef>
            </a:pPr>
            <a:r>
              <a:rPr lang="en-US" sz="34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Manuel Zorluk: Özellikle büyük depolarda ve sulama sistemlerinde manuel kontrol zahmetli ve verimsizdir.</a:t>
            </a:r>
          </a:p>
          <a:p>
            <a:pPr algn="ctr">
              <a:lnSpc>
                <a:spcPts val="4801"/>
              </a:lnSpc>
              <a:spcBef>
                <a:spcPct val="0"/>
              </a:spcBef>
            </a:pPr>
            <a:r>
              <a:rPr lang="en-US" sz="34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Yerel İhtiyaç: Su kesintileri sonrası veya dışarıda olunan durumlarda yaşanan taşma riskleri.</a:t>
            </a:r>
          </a:p>
          <a:p>
            <a:pPr algn="ctr">
              <a:lnSpc>
                <a:spcPts val="4801"/>
              </a:lnSpc>
              <a:spcBef>
                <a:spcPct val="0"/>
              </a:spcBef>
            </a:pPr>
            <a:r>
              <a:rPr lang="en-US" sz="34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İhtiyaç: Su seviyesini sürekli izleyen ve kritik durumda otomatik önlem alan akıllı bir kontrol çözümü.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47098" y="2158165"/>
            <a:ext cx="7473290" cy="5970671"/>
          </a:xfrm>
          <a:custGeom>
            <a:avLst/>
            <a:gdLst/>
            <a:ahLst/>
            <a:cxnLst/>
            <a:rect r="r" b="b" t="t" l="l"/>
            <a:pathLst>
              <a:path h="5970671" w="7473290">
                <a:moveTo>
                  <a:pt x="0" y="0"/>
                </a:moveTo>
                <a:lnTo>
                  <a:pt x="7473290" y="0"/>
                </a:lnTo>
                <a:lnTo>
                  <a:pt x="7473290" y="5970670"/>
                </a:lnTo>
                <a:lnTo>
                  <a:pt x="0" y="5970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369060"/>
            <a:ext cx="8322691" cy="8199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7"/>
              </a:lnSpc>
              <a:spcBef>
                <a:spcPct val="0"/>
              </a:spcBef>
            </a:pPr>
            <a:r>
              <a:rPr lang="en-US" b="true" sz="4055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Amaç ve Kapsam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Projenin Ana Amacı ve Kapsamı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Ana Amaç: Su taşmalarını kesin olarak engelleyerek su ve kaynak israfını önlemek.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Hedefler: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Manuel müdahale ihtiyacını ortadan kaldırmak.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Zaman ve su tasarrufu sağlamak.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Sistem kontrolünü mobil uygulama üzerinden sağlamak.</a:t>
            </a:r>
          </a:p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35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Kapsam: Konutlar ve küçük ölçekli su depolarındaki otomasyon çözümleri.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09948" y="3291205"/>
            <a:ext cx="15068104" cy="368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Sistem Mimarisi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 GUARD Sistem Mimarisi ve Bileşenler: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ESP32 Mikrodenetleyici: Sistemin merkezi işlem birimi (Wi-Fi Entegrasyonlu).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Sensörler: Su seviyesini anlık olarak ölçen su seviye sensörü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Aktüatör/Vana: Geri bildirim (aksiyon) alarak fiziksel kontrolü sağlar.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Mobil Uygulama: Kullanıcının seviyeyi izlediği arayüz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691130"/>
            <a:ext cx="18288000" cy="486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Kritik Kontrol Mekanizması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Başlık: Akıllı Çalışma Prensibi: Kritik Eşik Yönetimi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 Sürekli İzleme: Sensör veriyi alır ve ESP32'ye gönderir.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2. Erken Uyarı (Karar): Su seviyesi kritik eşiğe (örneğin %30) ulaştığında kullanıcıya anında bildirim gönderilir.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3. Otomatik Aksiyon: Eşik aşımı devam ederse, sistem vana mekanizmasına kapatma komutu gönderir.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4. Kontrol: Kullanıcı, seviyeyi grafiksel olarak izler ve uzaktan müdahale edebilir.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8207" y="2991167"/>
            <a:ext cx="15311586" cy="30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Sonuçlar ve Katkılar: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Proje Çıktıları ve Elde Edilen Kazançlar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Başarılı Bildirim: Kritik noktalarda anlık ve doğru bildirim gönderme yeteneği.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Ekonomik Fayda: Su ve enerji israfının önlenmesiyle maliyet avantajı sağlandı.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Genel Katkı: Su yönetimine pratik, otomatik ve güvenilir bir çözüm sunuldu.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000692"/>
            <a:ext cx="18288000" cy="421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</a:t>
            </a:r>
            <a:r>
              <a:rPr lang="en-US" b="true" sz="3499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eliştirme Önerileri ve Kapanış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Gelecek Vizyonu ve 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Geliştirme Önerileri: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Yapay Zeka Entegrasyonu: Kullanım alışkanlıklarını öğrenerek otomasyonu daha akıllı hale getirmek.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* Geniş Ölçeklendirme: Sistemi endüstriyel otomasyon alanına uyarlamak.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Dinlediğiniz için teşekkür ederim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247610" y="2567991"/>
            <a:ext cx="2897448" cy="5151018"/>
          </a:xfrm>
          <a:custGeom>
            <a:avLst/>
            <a:gdLst/>
            <a:ahLst/>
            <a:cxnLst/>
            <a:rect r="r" b="b" t="t" l="l"/>
            <a:pathLst>
              <a:path h="5151018" w="2897448">
                <a:moveTo>
                  <a:pt x="0" y="0"/>
                </a:moveTo>
                <a:lnTo>
                  <a:pt x="2897448" y="0"/>
                </a:lnTo>
                <a:lnTo>
                  <a:pt x="2897448" y="5151018"/>
                </a:lnTo>
                <a:lnTo>
                  <a:pt x="0" y="51510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93066" y="1435476"/>
            <a:ext cx="7745462" cy="191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BAĞLANTI ŞEMALARI VE MALİYET</a:t>
            </a:r>
          </a:p>
          <a:p>
            <a:pPr algn="ctr">
              <a:lnSpc>
                <a:spcPts val="5039"/>
              </a:lnSpc>
            </a:pP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98123" y="3874770"/>
            <a:ext cx="6008638" cy="244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DONANIM MALİYETİ: </a:t>
            </a:r>
          </a:p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YAKLAŞIK 500 TL DONANIM </a:t>
            </a:r>
          </a:p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VE BULUT ALTYAPI ÜCRETSİZ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47521" y="717381"/>
            <a:ext cx="10165486" cy="4426119"/>
            <a:chOff x="0" y="0"/>
            <a:chExt cx="13553981" cy="5901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53982" cy="5799892"/>
            </a:xfrm>
            <a:custGeom>
              <a:avLst/>
              <a:gdLst/>
              <a:ahLst/>
              <a:cxnLst/>
              <a:rect r="r" b="b" t="t" l="l"/>
              <a:pathLst>
                <a:path h="5799892" w="13553982">
                  <a:moveTo>
                    <a:pt x="0" y="0"/>
                  </a:moveTo>
                  <a:lnTo>
                    <a:pt x="13553982" y="0"/>
                  </a:lnTo>
                  <a:lnTo>
                    <a:pt x="13553982" y="5799892"/>
                  </a:lnTo>
                  <a:lnTo>
                    <a:pt x="0" y="5799892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53982" cy="5901492"/>
            </a:xfrm>
            <a:custGeom>
              <a:avLst/>
              <a:gdLst/>
              <a:ahLst/>
              <a:cxnLst/>
              <a:rect r="r" b="b" t="t" l="l"/>
              <a:pathLst>
                <a:path h="5901492" w="13553982">
                  <a:moveTo>
                    <a:pt x="0" y="5799892"/>
                  </a:moveTo>
                  <a:lnTo>
                    <a:pt x="13553982" y="5799892"/>
                  </a:lnTo>
                  <a:lnTo>
                    <a:pt x="13426982" y="5901492"/>
                  </a:lnTo>
                  <a:cubicBezTo>
                    <a:pt x="13426982" y="5901492"/>
                    <a:pt x="12436381" y="5825292"/>
                    <a:pt x="12334781" y="5825292"/>
                  </a:cubicBezTo>
                  <a:lnTo>
                    <a:pt x="1219200" y="5825292"/>
                  </a:lnTo>
                  <a:cubicBezTo>
                    <a:pt x="1117600" y="5825292"/>
                    <a:pt x="127000" y="5901492"/>
                    <a:pt x="127000" y="5901492"/>
                  </a:cubicBezTo>
                  <a:lnTo>
                    <a:pt x="0" y="5799892"/>
                  </a:lnTo>
                  <a:lnTo>
                    <a:pt x="0" y="0"/>
                  </a:lnTo>
                  <a:lnTo>
                    <a:pt x="13553982" y="0"/>
                  </a:lnTo>
                  <a:lnTo>
                    <a:pt x="13553982" y="5799892"/>
                  </a:lnTo>
                  <a:lnTo>
                    <a:pt x="12700" y="5799892"/>
                  </a:lnTo>
                  <a:lnTo>
                    <a:pt x="12700" y="5787192"/>
                  </a:lnTo>
                  <a:lnTo>
                    <a:pt x="13541282" y="5787192"/>
                  </a:lnTo>
                  <a:lnTo>
                    <a:pt x="13541282" y="12700"/>
                  </a:lnTo>
                  <a:lnTo>
                    <a:pt x="12700" y="12700"/>
                  </a:lnTo>
                  <a:lnTo>
                    <a:pt x="12700" y="5799892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3553981" cy="5399842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                                           KAYNAKÇA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https://en.wikipedia.org/wiki/ESP32</a:t>
              </a:r>
            </a:p>
            <a:p>
              <a:pPr algn="l">
                <a:lnSpc>
                  <a:spcPts val="3499"/>
                </a:lnSpc>
              </a:pPr>
            </a:p>
            <a:p>
              <a:pPr algn="l">
                <a:lnSpc>
                  <a:spcPts val="34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869805" y="5990923"/>
            <a:ext cx="8548390" cy="191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DİNLEDİĞİNİZ İÇİN TEŞEKKÜRLER 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HASAN ALİ SÖNMEZ </a:t>
            </a:r>
          </a:p>
          <a:p>
            <a:pPr algn="l" marL="777238" indent="-388619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19240000150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52944" y="1415044"/>
            <a:ext cx="13982112" cy="4625222"/>
            <a:chOff x="0" y="0"/>
            <a:chExt cx="8556191" cy="2830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56191" cy="2728751"/>
            </a:xfrm>
            <a:custGeom>
              <a:avLst/>
              <a:gdLst/>
              <a:ahLst/>
              <a:cxnLst/>
              <a:rect r="r" b="b" t="t" l="l"/>
              <a:pathLst>
                <a:path h="2728751" w="8556191">
                  <a:moveTo>
                    <a:pt x="0" y="0"/>
                  </a:moveTo>
                  <a:lnTo>
                    <a:pt x="8556191" y="0"/>
                  </a:lnTo>
                  <a:lnTo>
                    <a:pt x="8556191" y="2728751"/>
                  </a:lnTo>
                  <a:lnTo>
                    <a:pt x="0" y="2728751"/>
                  </a:ln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56191" cy="2830351"/>
            </a:xfrm>
            <a:custGeom>
              <a:avLst/>
              <a:gdLst/>
              <a:ahLst/>
              <a:cxnLst/>
              <a:rect r="r" b="b" t="t" l="l"/>
              <a:pathLst>
                <a:path h="2830351" w="8556191">
                  <a:moveTo>
                    <a:pt x="0" y="2728751"/>
                  </a:moveTo>
                  <a:lnTo>
                    <a:pt x="8556191" y="2728751"/>
                  </a:lnTo>
                  <a:lnTo>
                    <a:pt x="8429191" y="2830351"/>
                  </a:lnTo>
                  <a:cubicBezTo>
                    <a:pt x="8429191" y="2830351"/>
                    <a:pt x="7438591" y="2754151"/>
                    <a:pt x="7336991" y="2754151"/>
                  </a:cubicBezTo>
                  <a:lnTo>
                    <a:pt x="1219200" y="2754151"/>
                  </a:lnTo>
                  <a:cubicBezTo>
                    <a:pt x="1117600" y="2754151"/>
                    <a:pt x="127000" y="2830351"/>
                    <a:pt x="127000" y="2830351"/>
                  </a:cubicBezTo>
                  <a:lnTo>
                    <a:pt x="0" y="2728751"/>
                  </a:lnTo>
                  <a:lnTo>
                    <a:pt x="0" y="0"/>
                  </a:lnTo>
                  <a:lnTo>
                    <a:pt x="8556191" y="0"/>
                  </a:lnTo>
                  <a:lnTo>
                    <a:pt x="8556191" y="2728751"/>
                  </a:lnTo>
                  <a:lnTo>
                    <a:pt x="12700" y="2728751"/>
                  </a:lnTo>
                  <a:lnTo>
                    <a:pt x="12700" y="2716051"/>
                  </a:lnTo>
                  <a:lnTo>
                    <a:pt x="8543491" y="2716051"/>
                  </a:lnTo>
                  <a:lnTo>
                    <a:pt x="8543491" y="12700"/>
                  </a:lnTo>
                  <a:lnTo>
                    <a:pt x="12700" y="12700"/>
                  </a:lnTo>
                  <a:lnTo>
                    <a:pt x="12700" y="2728751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8556191" cy="2395376"/>
            </a:xfrm>
            <a:prstGeom prst="rect">
              <a:avLst/>
            </a:prstGeom>
          </p:spPr>
          <p:txBody>
            <a:bodyPr anchor="t" rtlCol="false" tIns="442746" lIns="442746" bIns="442746" rIns="442746"/>
            <a:lstStyle/>
            <a:p>
              <a:pPr algn="l">
                <a:lnSpc>
                  <a:spcPts val="8190"/>
                </a:lnSpc>
              </a:pPr>
              <a:r>
                <a:rPr lang="en-US" sz="5850">
                  <a:solidFill>
                    <a:srgbClr val="000000"/>
                  </a:solidFill>
                  <a:latin typeface="Rubik Bubbles"/>
                  <a:ea typeface="Rubik Bubbles"/>
                  <a:cs typeface="Rubik Bubbles"/>
                  <a:sym typeface="Rubik Bubbles"/>
                </a:rPr>
                <a:t>    SU GUARDLA EVLER GÜVENDE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DAG7sqx9lIY</dc:identifier>
  <dcterms:modified xsi:type="dcterms:W3CDTF">2011-08-01T06:04:30Z</dcterms:modified>
  <cp:revision>1</cp:revision>
  <dc:title>Başlık: EGE ÜNİVERSİTESİ - BİTİRME PROJESİ Ana Başlık: SU GUARD Alt Başlık: Akıllı Su Seviyesi Kontrol Sistemi * Hazırlayan: Hasan Ali Sönmez * Danışman: Dr. Öğr. Üyesi Mustafa Berkant Selek * Bölüm: Elektronik Haberleşme Teknolojileri Bölümü</dc:title>
</cp:coreProperties>
</file>