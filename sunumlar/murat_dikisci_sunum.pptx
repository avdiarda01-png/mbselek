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Urbanist" panose="020B0604020202020204" charset="-94"/>
      <p:regular r:id="rId12"/>
      <p:bold r:id="rId13"/>
      <p:italic r:id="rId14"/>
      <p:boldItalic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3F36466-8C05-43F9-A021-07B11AA0F339}">
  <a:tblStyle styleId="{13F36466-8C05-43F9-A021-07B11AA0F33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623659" y="1868983"/>
            <a:ext cx="4944680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Akıllı</a:t>
            </a:r>
            <a:r>
              <a:rPr lang="en-US" sz="54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54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Giriş-Çıkış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Yönetim</a:t>
            </a:r>
            <a:r>
              <a:rPr lang="en-US" sz="54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54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Sistemi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214937" y="4543276"/>
            <a:ext cx="2005013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SUNAN: MURAT DİKİŞCİ</a:t>
            </a: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43175"/>
            <a:ext cx="3492400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543175"/>
            <a:ext cx="3492549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543175"/>
            <a:ext cx="34924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66775" y="3524250"/>
            <a:ext cx="1367514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Zaman Kaybı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4133850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Kağıt imza listeleriyle uğraşmak, ders ve mesai saatlerinden çalar. Manuel kontroller verimsizdir.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644925" y="3524250"/>
            <a:ext cx="1503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Güvenlik Açığı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644925" y="413385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"Buddy Punching" (Arkadaşının yerine imza atma) gibi sahteciliklerin önüne geçilemez.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423225" y="3524250"/>
            <a:ext cx="154300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Veri Karmaşası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423225" y="4133850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Kağıtlar kaybolur, arşivlemek zordur ve geçmişe dönük rapor almak imkansızdır.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4925" y="2952750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23225" y="2952750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1228725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Mevcut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Sorunlar</a:t>
            </a:r>
            <a:endParaRPr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775" y="2952724"/>
            <a:ext cx="409632" cy="3810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00" y="1285875"/>
            <a:ext cx="52959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1147167"/>
            <a:ext cx="554069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Çözüm: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IoT Teknolojisi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208061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Geliştirdiğimiz kompakt sistem, kart okuma ve bulut teknolojisini birleştirir. Pahalı sunuculara gerek kalmadan çalışır.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295400"/>
            <a:ext cx="52768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3166467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2425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ESP32 İşlemci: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Çift çekirdekli güç, Wi-Fi ve Bluetooth entegre.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4027289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RFID Sensör: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0.2 saniyede temassız ve hatasız okuma.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4888110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9575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Bulut Bağlantısı: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Veriler anında Google Sheets'e aktarılır.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23617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084439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945260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Resim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599" y="1295400"/>
            <a:ext cx="5286375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/>
          <p:nvPr/>
        </p:nvSpPr>
        <p:spPr>
          <a:xfrm>
            <a:off x="571500" y="3562350"/>
            <a:ext cx="11049000" cy="190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2085975" y="3333750"/>
            <a:ext cx="285750" cy="28575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488632" y="3905250"/>
            <a:ext cx="348043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1. Okut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4419600"/>
            <a:ext cx="3314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Kullanıcı kartını cihaza yaklaştırır. Sistem kartı anında tanır.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953125" y="3333750"/>
            <a:ext cx="285750" cy="28575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4355782" y="3905250"/>
            <a:ext cx="348043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2. İşle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438650" y="4419600"/>
            <a:ext cx="3314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ESP32 veriyi işler, yetki kontrolü yapar ve giriş/çıkış durumunu belirler.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9820275" y="3181350"/>
            <a:ext cx="285750" cy="28575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8222932" y="3752850"/>
            <a:ext cx="348043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3. Raporla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305800" y="4267200"/>
            <a:ext cx="3314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Veri, Wi-Fi üzerinden Google Sheets'e anlık olarak işlenir. Yönetici her yerden görür.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14859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Nasıl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Çalışır?</a:t>
            </a:r>
            <a:endParaRPr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5975" y="3343236"/>
            <a:ext cx="362001" cy="276264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125" y="3343236"/>
            <a:ext cx="362001" cy="276264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5024" y="3343236"/>
            <a:ext cx="362001" cy="2762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71500" y="3005137"/>
            <a:ext cx="52387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DEFF9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397₺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4624387"/>
            <a:ext cx="523875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Birim Üretim Maliyeti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381750" y="2867025"/>
            <a:ext cx="55006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Pazarı Altüst Eden Fiyat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381750" y="35147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Mevcut turnike ve profesyonel geçiş sistemleri </a:t>
            </a: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30.000 TL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'den başlarken, bizim çözümümüz %98 daha uygun maliyetle aynı dijital veriyi sunar.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381750" y="461962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Yüksek Kâr Marjı Potansiyeli</a:t>
            </a:r>
            <a:endParaRPr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676775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71500" y="1743075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Maliyet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Devrimi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41450" y="3376612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1496913" y="4329112"/>
            <a:ext cx="172349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Eğitim Kurumları</a:t>
            </a:r>
            <a:endParaRPr/>
          </a:p>
        </p:txBody>
      </p:sp>
      <p:pic>
        <p:nvPicPr>
          <p:cNvPr id="155" name="Google Shape;15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101" y="3376612"/>
            <a:ext cx="571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5499348" y="4329112"/>
            <a:ext cx="125265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Ofis &amp; Plaza</a:t>
            </a:r>
            <a:endParaRPr/>
          </a:p>
        </p:txBody>
      </p:sp>
      <p:pic>
        <p:nvPicPr>
          <p:cNvPr id="157" name="Google Shape;15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97900" y="3376612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9172723" y="4329112"/>
            <a:ext cx="147299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Spor Salonları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1438275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Hedef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Pazarlar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00" y="1285875"/>
            <a:ext cx="52959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571500" y="1743075"/>
            <a:ext cx="554069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Canlı Veri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Kanıtı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2676525"/>
            <a:ext cx="5276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Sistemimiz teoride değil, pratikte de kusursuz çalışır.</a:t>
            </a:r>
            <a:endParaRPr/>
          </a:p>
        </p:txBody>
      </p:sp>
      <p:graphicFrame>
        <p:nvGraphicFramePr>
          <p:cNvPr id="168" name="Google Shape;168;p19"/>
          <p:cNvGraphicFramePr/>
          <p:nvPr/>
        </p:nvGraphicFramePr>
        <p:xfrm>
          <a:off x="6597997" y="254793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{13F36466-8C05-43F9-A021-07B11AA0F339}</a:tableStyleId>
              </a:tblPr>
              <a:tblGrid>
                <a:gridCol w="132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Tarih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96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Saat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96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 Soyad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96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İşlem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96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02/12/2023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08:45:12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Murat Dikişci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1096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GİRİŞ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02/12/2023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08:50:33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Deha Uzar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1096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GİRİŞ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02/12/2023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10:30:05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Murat Dikişci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D930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ÇIKIŞ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02/12/2023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10:35:11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Kayıtsız Kart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D930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9" name="Google Shape;169;p19"/>
          <p:cNvSpPr txBox="1"/>
          <p:nvPr/>
        </p:nvSpPr>
        <p:spPr>
          <a:xfrm>
            <a:off x="571500" y="3457575"/>
            <a:ext cx="5276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Google Sheets Entegrasyonu: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Ekstra yazılım gerektirmez.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571500" y="3905250"/>
            <a:ext cx="5276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Gerçek Zamanlı: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Saniyeler içinde veri düşer.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71500" y="4352925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Durum Takibi: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Giriş, Çıkış ve Yetkisiz Kart (RED) durumu anlık raporlanır.</a:t>
            </a:r>
            <a:endParaRPr/>
          </a:p>
        </p:txBody>
      </p:sp>
      <p:pic>
        <p:nvPicPr>
          <p:cNvPr id="172" name="Google Shape;17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147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6240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10075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571500" y="2704207"/>
            <a:ext cx="55006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Yazılım &amp;</a:t>
            </a:r>
            <a:r>
              <a:rPr lang="en-US" sz="21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Platformlar</a:t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571500" y="3170932"/>
            <a:ext cx="52387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6381750" y="2704207"/>
            <a:ext cx="55006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Rehber &amp;</a:t>
            </a:r>
            <a:r>
              <a:rPr lang="en-US" sz="21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Eğitimler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6381750" y="3170932"/>
            <a:ext cx="52387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800100" y="3418582"/>
            <a:ext cx="50101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BBBBB"/>
                </a:solidFill>
                <a:latin typeface="Urbanist"/>
                <a:ea typeface="Urbanist"/>
                <a:cs typeface="Urbanist"/>
                <a:sym typeface="Urbanist"/>
              </a:rPr>
              <a:t>Arduino IDE Yazılımı &amp; Kütüphaneleri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800100" y="3883372"/>
            <a:ext cx="50101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BBBBB"/>
                </a:solidFill>
                <a:latin typeface="Urbanist"/>
                <a:ea typeface="Urbanist"/>
                <a:cs typeface="Urbanist"/>
                <a:sym typeface="Urbanist"/>
              </a:rPr>
              <a:t>Google Apps Script &amp; Sheets API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800100" y="4348162"/>
            <a:ext cx="50101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BBBBB"/>
                </a:solidFill>
                <a:latin typeface="Urbanist"/>
                <a:ea typeface="Urbanist"/>
                <a:cs typeface="Urbanist"/>
                <a:sym typeface="Urbanist"/>
              </a:rPr>
              <a:t>Kütüphaneler: MFRC522.h, SPI.h, WiFi.h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800100" y="4812952"/>
            <a:ext cx="50101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BBBBB"/>
                </a:solidFill>
                <a:latin typeface="Urbanist"/>
                <a:ea typeface="Urbanist"/>
                <a:cs typeface="Urbanist"/>
                <a:sym typeface="Urbanist"/>
              </a:rPr>
              <a:t>ArduinoJson.h &amp; HTTPClient.h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6610350" y="3418582"/>
            <a:ext cx="50101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BBBBB"/>
                </a:solidFill>
                <a:latin typeface="Urbanist"/>
                <a:ea typeface="Urbanist"/>
                <a:cs typeface="Urbanist"/>
                <a:sym typeface="Urbanist"/>
              </a:rPr>
              <a:t>Random Nerd Tutorials (ESP32 &amp; RFID)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610350" y="3883372"/>
            <a:ext cx="50101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BBBBB"/>
                </a:solidFill>
                <a:latin typeface="Urbanist"/>
                <a:ea typeface="Urbanist"/>
                <a:cs typeface="Urbanist"/>
                <a:sym typeface="Urbanist"/>
              </a:rPr>
              <a:t>Ahmet Kemal Yıldız Blog (RFID Veri Yazma)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610350" y="4348162"/>
            <a:ext cx="50101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BBBBB"/>
                </a:solidFill>
                <a:latin typeface="Urbanist"/>
                <a:ea typeface="Urbanist"/>
                <a:cs typeface="Urbanist"/>
                <a:sym typeface="Urbanist"/>
              </a:rPr>
              <a:t>DevreYakan.com (ESP32 Kurulumu)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610350" y="4812952"/>
            <a:ext cx="50101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BBBBB"/>
                </a:solidFill>
                <a:latin typeface="Urbanist"/>
                <a:ea typeface="Urbanist"/>
                <a:cs typeface="Urbanist"/>
                <a:sym typeface="Urbanist"/>
              </a:rPr>
              <a:t>Espressif Systems (Teknik Datasheet)</a:t>
            </a:r>
            <a:endParaRPr/>
          </a:p>
        </p:txBody>
      </p:sp>
      <p:pic>
        <p:nvPicPr>
          <p:cNvPr id="192" name="Google Shape;19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66207"/>
            <a:ext cx="857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30997"/>
            <a:ext cx="857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95787"/>
            <a:ext cx="857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60577"/>
            <a:ext cx="857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466207"/>
            <a:ext cx="857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930997"/>
            <a:ext cx="857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395787"/>
            <a:ext cx="857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860577"/>
            <a:ext cx="8572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571500" y="1580257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Proje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Kaynakçası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452198" y="1845915"/>
            <a:ext cx="537710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Teşekkürler</a:t>
            </a:r>
            <a:endParaRPr dirty="0"/>
          </a:p>
        </p:txBody>
      </p:sp>
      <p:sp>
        <p:nvSpPr>
          <p:cNvPr id="207" name="Google Shape;207;p21"/>
          <p:cNvSpPr txBox="1"/>
          <p:nvPr/>
        </p:nvSpPr>
        <p:spPr>
          <a:xfrm>
            <a:off x="571500" y="3179415"/>
            <a:ext cx="47720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Zamanı Yönetin, Güvenliği Artırın.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4021335"/>
            <a:ext cx="47720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1muratdikisci@gmail.com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571500" y="4516635"/>
            <a:ext cx="47720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linkedin.com/in/muratdikisci</a:t>
            </a:r>
            <a:endParaRPr/>
          </a:p>
        </p:txBody>
      </p:sp>
      <p:pic>
        <p:nvPicPr>
          <p:cNvPr id="210" name="Google Shape;21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85937" y="407848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85925" y="4573785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317</Words>
  <Application>Microsoft Office PowerPoint</Application>
  <PresentationFormat>Geniş ekran</PresentationFormat>
  <Paragraphs>71</Paragraphs>
  <Slides>9</Slides>
  <Notes>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4" baseType="lpstr">
      <vt:lpstr>Urbanist</vt:lpstr>
      <vt:lpstr>Calibri</vt:lpstr>
      <vt:lpstr>Arial</vt:lpstr>
      <vt:lpstr>Times New Roman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Murat</dc:creator>
  <cp:lastModifiedBy>Monster</cp:lastModifiedBy>
  <cp:revision>3</cp:revision>
  <dcterms:modified xsi:type="dcterms:W3CDTF">2025-12-03T07:00:01Z</dcterms:modified>
</cp:coreProperties>
</file>