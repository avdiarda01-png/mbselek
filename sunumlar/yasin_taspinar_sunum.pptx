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" charset="1" panose="020B0500040000020004"/>
      <p:regular r:id="rId19"/>
    </p:embeddedFont>
    <p:embeddedFont>
      <p:font typeface="Georgia Pro Condensed" charset="1" panose="02040506050405020303"/>
      <p:regular r:id="rId20"/>
    </p:embeddedFont>
    <p:embeddedFont>
      <p:font typeface="Helvetica World Bold" charset="1" panose="020B080004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7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700"/>
            <a:ext cx="11201400" cy="10299700"/>
            <a:chOff x="0" y="0"/>
            <a:chExt cx="963348" cy="8857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3348" cy="885799"/>
            </a:xfrm>
            <a:custGeom>
              <a:avLst/>
              <a:gdLst/>
              <a:ahLst/>
              <a:cxnLst/>
              <a:rect r="r" b="b" t="t" l="l"/>
              <a:pathLst>
                <a:path h="885799" w="963348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D9E4D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68150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3183241">
            <a:off x="5054479" y="9174186"/>
            <a:ext cx="1092442" cy="104728"/>
            <a:chOff x="0" y="0"/>
            <a:chExt cx="673100" cy="64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-7674"/>
              <a:ext cx="673100" cy="79876"/>
            </a:xfrm>
            <a:custGeom>
              <a:avLst/>
              <a:gdLst/>
              <a:ahLst/>
              <a:cxnLst/>
              <a:rect r="r" b="b" t="t" l="l"/>
              <a:pathLst>
                <a:path h="79876" w="673100">
                  <a:moveTo>
                    <a:pt x="339090" y="20176"/>
                  </a:moveTo>
                  <a:cubicBezTo>
                    <a:pt x="452120" y="9690"/>
                    <a:pt x="562610" y="-18996"/>
                    <a:pt x="673100" y="19370"/>
                  </a:cubicBezTo>
                  <a:lnTo>
                    <a:pt x="673100" y="57683"/>
                  </a:lnTo>
                  <a:cubicBezTo>
                    <a:pt x="558800" y="38325"/>
                    <a:pt x="444500" y="49214"/>
                    <a:pt x="334010" y="59699"/>
                  </a:cubicBezTo>
                  <a:cubicBezTo>
                    <a:pt x="220980" y="70185"/>
                    <a:pt x="110490" y="98872"/>
                    <a:pt x="0" y="60506"/>
                  </a:cubicBezTo>
                  <a:lnTo>
                    <a:pt x="0" y="22193"/>
                  </a:lnTo>
                  <a:cubicBezTo>
                    <a:pt x="114300" y="41551"/>
                    <a:pt x="228600" y="30662"/>
                    <a:pt x="339090" y="20176"/>
                  </a:cubicBezTo>
                  <a:close/>
                </a:path>
              </a:pathLst>
            </a:custGeom>
            <a:solidFill>
              <a:srgbClr val="345E3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1018"/>
              <a:ext cx="673100" cy="89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75380" y="8794750"/>
            <a:ext cx="5483863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</a:pPr>
            <a:r>
              <a:rPr lang="en-US" sz="2600" spc="-39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Yasin TAŞPINAR</a:t>
            </a:r>
          </a:p>
          <a:p>
            <a:pPr algn="l" marL="0" indent="0" lvl="0">
              <a:lnSpc>
                <a:spcPts val="3380"/>
              </a:lnSpc>
            </a:pPr>
            <a:r>
              <a:rPr lang="en-US" sz="2600" spc="-39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19240000214@ogrenci.ege.edu.tr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75380" y="898868"/>
            <a:ext cx="10431999" cy="434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202"/>
              </a:lnSpc>
            </a:pPr>
            <a:r>
              <a:rPr lang="en-US" sz="11202" spc="-392" strike="noStrike" u="none">
                <a:solidFill>
                  <a:srgbClr val="4C774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Akıllı Bitki Bakım Asistanı</a:t>
            </a:r>
          </a:p>
          <a:p>
            <a:pPr algn="l" marL="0" indent="0" lvl="0">
              <a:lnSpc>
                <a:spcPts val="11202"/>
              </a:lnSpc>
            </a:pPr>
            <a:r>
              <a:rPr lang="en-US" sz="11202" spc="-392" strike="noStrike" u="none">
                <a:solidFill>
                  <a:srgbClr val="4C774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PLANT IoT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85439" y="8794750"/>
            <a:ext cx="5721940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80"/>
              </a:lnSpc>
            </a:pPr>
            <a:r>
              <a:rPr lang="en-US" sz="2600" spc="-39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Dr. Öğr. Üyesi Mustafa Berkant SELEK</a:t>
            </a:r>
          </a:p>
          <a:p>
            <a:pPr algn="r" marL="0" indent="0" lvl="0">
              <a:lnSpc>
                <a:spcPts val="3380"/>
              </a:lnSpc>
            </a:pPr>
            <a:r>
              <a:rPr lang="en-US" sz="2600" spc="-39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mustafa.berkant.selek@ege.edu.tr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AA3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7994177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IoT Teknolojileri ve Tarım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4990392"/>
            <a:ext cx="8324850" cy="4629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10"/>
              </a:lnSpc>
            </a:pPr>
            <a:r>
              <a:rPr lang="en-US" b="true" sz="3722" spc="-55" strike="noStrike" u="none">
                <a:solidFill>
                  <a:srgbClr val="FFFC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IoT teknolojileri</a:t>
            </a:r>
            <a:r>
              <a:rPr lang="en-US" sz="3722" spc="-55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, tarımda devrimsel değişimler sağlamakta, bitki bakım süreçlerini daha verimli hale getirmektedir. Sensör tabanlı sistemler, geleneksel yöntemlerin yerini alarak, düşük maliyetli izleme çözümleri sunmaktadır.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7AA3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45E3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43120" y="9429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Projenin Amacı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3120" y="2743199"/>
            <a:ext cx="15609971" cy="550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 sunumda, b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itki bakımını kolayla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ş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tırma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 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cıy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g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liş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irilen Akı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lı Bitk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</a:t>
            </a: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Bakım Asistanı (Plant IoT) sistemi tanıtılmaktadır.</a:t>
            </a:r>
          </a:p>
          <a:p>
            <a:pPr algn="l" marL="0" indent="0" lvl="0">
              <a:lnSpc>
                <a:spcPts val="6299"/>
              </a:lnSpc>
            </a:pPr>
          </a:p>
          <a:p>
            <a:pPr algn="l" marL="0" indent="0" lvl="0">
              <a:lnSpc>
                <a:spcPts val="6299"/>
              </a:lnSpc>
            </a:pP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Plant IoT, ESP32 tabanlı sıcaklık, toprak nemi, ışık ve karbonmonoksit ölçümlerini gerçekleştiren, eşik değerler aşıldığında ise kullanıcıya otomatik e-posta bildirimi gönderen bitki bakım sistemidir.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7AA3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45E3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27948" y="9429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Özgün Yönü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7948" y="2814675"/>
            <a:ext cx="15872590" cy="550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</a:pP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Projenin özgün yönü, düşük maliyetli sensörlerin IoT mimarisi altında birleştirilmesi ve bitki bakımının gerçek zamanlı olarak izlenebilmesidir. Sonuçlar, sistemin güvenilir çalıştığını ve sensör verilerini kullanıcıya anlaşılır şekilde ilettiğini göstermektedir [1].</a:t>
            </a:r>
          </a:p>
          <a:p>
            <a:pPr algn="l" marL="0" indent="0" lvl="0">
              <a:lnSpc>
                <a:spcPts val="6299"/>
              </a:lnSpc>
            </a:pPr>
          </a:p>
          <a:p>
            <a:pPr algn="l" marL="0" indent="0" lvl="0">
              <a:lnSpc>
                <a:spcPts val="6299"/>
              </a:lnSpc>
            </a:pPr>
            <a:r>
              <a:rPr lang="en-US" sz="4499" spc="-67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Anahtar Kelimeler: IoT, Bitki Bakımı, Sensörler, ESP32, Akıllı Tarım</a:t>
            </a:r>
          </a:p>
          <a:p>
            <a:pPr algn="l" marL="0" indent="0" lvl="0">
              <a:lnSpc>
                <a:spcPts val="62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7AA3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45E36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3079" y="976463"/>
            <a:ext cx="132492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Sistem Tasarımı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291388" y="3032204"/>
            <a:ext cx="4817752" cy="2215874"/>
            <a:chOff x="0" y="0"/>
            <a:chExt cx="6423669" cy="295449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9525"/>
              <a:ext cx="6423669" cy="605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4"/>
                </a:lnSpc>
                <a:spcBef>
                  <a:spcPct val="0"/>
                </a:spcBef>
              </a:pPr>
              <a:r>
                <a:rPr lang="en-US" b="true" sz="2795" spc="-41">
                  <a:solidFill>
                    <a:srgbClr val="FFFC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DHT22 Sensörü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2548"/>
              <a:ext cx="6423669" cy="17619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0"/>
                </a:lnSpc>
              </a:pPr>
              <a:r>
                <a:rPr lang="en-US" sz="2536" spc="-38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±0.5°C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ha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sasiy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 ile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sıcaklık ve 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±2%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h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ass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ye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i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ne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ö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ç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ü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mü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yapa</a:t>
              </a:r>
              <a:r>
                <a:rPr lang="en-US" sz="2536" spc="-38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784471" y="3032204"/>
            <a:ext cx="4474829" cy="1766398"/>
            <a:chOff x="0" y="0"/>
            <a:chExt cx="5966438" cy="235519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9525"/>
              <a:ext cx="5966438" cy="6047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7"/>
                </a:lnSpc>
                <a:spcBef>
                  <a:spcPct val="0"/>
                </a:spcBef>
              </a:pPr>
              <a:r>
                <a:rPr lang="en-US" b="true" sz="2789" spc="-41">
                  <a:solidFill>
                    <a:srgbClr val="FFFC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Toprak Nem Sensörü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189991"/>
              <a:ext cx="5966438" cy="1165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44"/>
                </a:lnSpc>
              </a:pP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Toprak 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içi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eki su miktarını a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na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g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o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lar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ak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ölç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531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r.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91388" y="6733570"/>
            <a:ext cx="4457519" cy="1762999"/>
            <a:chOff x="0" y="0"/>
            <a:chExt cx="5943359" cy="2350665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9525"/>
              <a:ext cx="5943359" cy="602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34"/>
                </a:lnSpc>
                <a:spcBef>
                  <a:spcPct val="0"/>
                </a:spcBef>
              </a:pPr>
              <a:r>
                <a:rPr lang="en-US" b="true" sz="2778" spc="-41">
                  <a:solidFill>
                    <a:srgbClr val="FFFC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LDR Sensörü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185167"/>
              <a:ext cx="5943359" cy="1165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32"/>
                </a:lnSpc>
              </a:pPr>
              <a:r>
                <a:rPr lang="en-US" sz="2523" spc="-37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rtam ışığını ana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log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se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y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d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 öl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ç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er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 Işık arttığında değer düşer.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83079" y="6733570"/>
            <a:ext cx="4457519" cy="1762999"/>
            <a:chOff x="0" y="0"/>
            <a:chExt cx="5943359" cy="235066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5943359" cy="602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34"/>
                </a:lnSpc>
                <a:spcBef>
                  <a:spcPct val="0"/>
                </a:spcBef>
              </a:pPr>
              <a:r>
                <a:rPr lang="en-US" b="true" sz="2778" spc="-41">
                  <a:solidFill>
                    <a:srgbClr val="FFFC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MQ-7</a:t>
              </a:r>
              <a:r>
                <a:rPr lang="en-US" b="true" sz="2778" spc="-41">
                  <a:solidFill>
                    <a:srgbClr val="FFFC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Sensörü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185167"/>
              <a:ext cx="5943359" cy="1165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32"/>
                </a:lnSpc>
              </a:pPr>
              <a:r>
                <a:rPr lang="en-US" sz="2523" spc="-37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 g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azına duyarl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ı,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güvenlik için kullanılan bir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sensördü</a:t>
              </a:r>
              <a:r>
                <a:rPr lang="en-US" sz="2523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800225" y="3032204"/>
            <a:ext cx="4803911" cy="3567520"/>
            <a:chOff x="0" y="0"/>
            <a:chExt cx="6405214" cy="475669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9525"/>
              <a:ext cx="6405214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44"/>
                </a:lnSpc>
                <a:spcBef>
                  <a:spcPct val="0"/>
                </a:spcBef>
              </a:pPr>
              <a:r>
                <a:rPr lang="en-US" b="true" sz="2787" spc="-41">
                  <a:solidFill>
                    <a:srgbClr val="FFFC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ESP3</a:t>
              </a:r>
              <a:r>
                <a:rPr lang="en-US" b="true" sz="2787" spc="-41">
                  <a:solidFill>
                    <a:srgbClr val="FFFCF3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2 Mikrodenetleyici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1203824"/>
              <a:ext cx="6405214" cy="35528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41"/>
                </a:lnSpc>
              </a:pPr>
              <a:r>
                <a:rPr lang="en-US" sz="2529" spc="-37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Wi-Fi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modüllü, düşük güç tüketi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m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i, IoT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uygulamaları için ideal bir i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şl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emcidir.</a:t>
              </a:r>
            </a:p>
            <a:p>
              <a:pPr algn="l" marL="0" indent="0" lvl="0">
                <a:lnSpc>
                  <a:spcPts val="3541"/>
                </a:lnSpc>
              </a:pP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Veriler ESP32 üzerinde toplanma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kt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ve işlenmektedi</a:t>
              </a:r>
              <a:r>
                <a:rPr lang="en-US" sz="2529" spc="-37" strike="noStrike" u="none">
                  <a:solidFill>
                    <a:srgbClr val="FFFCF3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 [4].</a:t>
              </a:r>
            </a:p>
            <a:p>
              <a:pPr algn="l" marL="0" indent="0" lvl="0">
                <a:lnSpc>
                  <a:spcPts val="3541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A3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4D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6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45E3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691258" y="2565400"/>
            <a:ext cx="7314040" cy="5797464"/>
          </a:xfrm>
          <a:custGeom>
            <a:avLst/>
            <a:gdLst/>
            <a:ahLst/>
            <a:cxnLst/>
            <a:rect r="r" b="b" t="t" l="l"/>
            <a:pathLst>
              <a:path h="5797464" w="7314040">
                <a:moveTo>
                  <a:pt x="0" y="0"/>
                </a:moveTo>
                <a:lnTo>
                  <a:pt x="7314040" y="0"/>
                </a:lnTo>
                <a:lnTo>
                  <a:pt x="7314040" y="5797463"/>
                </a:lnTo>
                <a:lnTo>
                  <a:pt x="0" y="57974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66" r="-131640" b="-89941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9429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Veri Okuma Mekanizması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00225" y="2938144"/>
            <a:ext cx="6765776" cy="4324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9"/>
              </a:lnSpc>
            </a:pPr>
            <a:r>
              <a:rPr lang="en-US" sz="4099" spc="-61">
                <a:solidFill>
                  <a:srgbClr val="D9E4D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ESP32 mikrodenetleyici, sensörlerden anlık veri okuyarak, kritik eşik değerlerini belirler ve bu değerlerin aşılması durumunda otomatik e-posta bildirimleri gönderir.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15348" y="8420013"/>
            <a:ext cx="5369312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</a:pPr>
            <a:r>
              <a:rPr lang="en-US" sz="2999" spc="-4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Şekil 1. ESP32 Sensör Okuma</a:t>
            </a:r>
          </a:p>
          <a:p>
            <a:pPr algn="ctr" marL="0" indent="0" lvl="0">
              <a:lnSpc>
                <a:spcPts val="4199"/>
              </a:lnSpc>
            </a:pPr>
            <a:r>
              <a:rPr lang="en-US" sz="2999" spc="-4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 Uyarı Algoritması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A3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7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45E3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437255" y="3567207"/>
            <a:ext cx="7822045" cy="4004065"/>
          </a:xfrm>
          <a:custGeom>
            <a:avLst/>
            <a:gdLst/>
            <a:ahLst/>
            <a:cxnLst/>
            <a:rect r="r" b="b" t="t" l="l"/>
            <a:pathLst>
              <a:path h="4004065" w="7822045">
                <a:moveTo>
                  <a:pt x="0" y="0"/>
                </a:moveTo>
                <a:lnTo>
                  <a:pt x="7822045" y="0"/>
                </a:lnTo>
                <a:lnTo>
                  <a:pt x="7822045" y="4004065"/>
                </a:lnTo>
                <a:lnTo>
                  <a:pt x="0" y="4004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15" t="-2230" r="-1115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9528" y="3567207"/>
            <a:ext cx="7241774" cy="4004065"/>
          </a:xfrm>
          <a:custGeom>
            <a:avLst/>
            <a:gdLst/>
            <a:ahLst/>
            <a:cxnLst/>
            <a:rect r="r" b="b" t="t" l="l"/>
            <a:pathLst>
              <a:path h="4004065" w="7241774">
                <a:moveTo>
                  <a:pt x="0" y="0"/>
                </a:moveTo>
                <a:lnTo>
                  <a:pt x="7241774" y="0"/>
                </a:lnTo>
                <a:lnTo>
                  <a:pt x="7241774" y="4004065"/>
                </a:lnTo>
                <a:lnTo>
                  <a:pt x="0" y="4004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99528" y="717743"/>
            <a:ext cx="15529694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Deneysel Sonuçlar/</a:t>
            </a:r>
          </a:p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Örnek E-posta Bildirimleri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63622" y="7752247"/>
            <a:ext cx="536931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2999" spc="-4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Şekil 3. Toprak Nemi Örnek Maili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84730" y="7752247"/>
            <a:ext cx="4671371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2999" spc="-4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Şekil 2. CO Artışı Örnek Maili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C774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8176249" cy="2079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Yenilikçi Bitki Bakım Çözümleri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5234766"/>
            <a:ext cx="8176249" cy="4385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55"/>
              </a:lnSpc>
            </a:pPr>
            <a:r>
              <a:rPr lang="en-US" sz="3968" spc="-59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Proje, düşük maliyetli sensörlerin entegre edildiği </a:t>
            </a:r>
            <a:r>
              <a:rPr lang="en-US" b="true" sz="3968" spc="-59" strike="noStrike" u="none">
                <a:solidFill>
                  <a:srgbClr val="FFFC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gerçek zamanlı izleme</a:t>
            </a:r>
            <a:r>
              <a:rPr lang="en-US" sz="3968" spc="-59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ve otomatik bildirim sistemi sunarak, ev, sera, ofis gibi ortamlarda bitki sağlığını koruma sürecini </a:t>
            </a:r>
            <a:r>
              <a:rPr lang="en-US" b="true" sz="3968" spc="-59" strike="noStrike" u="none">
                <a:solidFill>
                  <a:srgbClr val="FFFCF3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kolaylaştırıyor</a:t>
            </a:r>
            <a:r>
              <a:rPr lang="en-US" sz="3968" spc="-59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A3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9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45E3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00225" y="3097095"/>
            <a:ext cx="8063597" cy="4787761"/>
          </a:xfrm>
          <a:custGeom>
            <a:avLst/>
            <a:gdLst/>
            <a:ahLst/>
            <a:cxnLst/>
            <a:rect r="r" b="b" t="t" l="l"/>
            <a:pathLst>
              <a:path h="4787761" w="8063597">
                <a:moveTo>
                  <a:pt x="0" y="0"/>
                </a:moveTo>
                <a:lnTo>
                  <a:pt x="8063597" y="0"/>
                </a:lnTo>
                <a:lnTo>
                  <a:pt x="8063597" y="4787761"/>
                </a:lnTo>
                <a:lnTo>
                  <a:pt x="0" y="47877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00225" y="1476375"/>
            <a:ext cx="15355551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Özgün ve Yenilikçi Yönler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4948" y="8149852"/>
            <a:ext cx="6234152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</a:pPr>
            <a:r>
              <a:rPr lang="en-US" sz="2999" spc="-4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Şekil 4. Geliştirilebilir Uygulama Örneği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17007" y="3020895"/>
            <a:ext cx="6383033" cy="486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3307" indent="-371654" lvl="1">
              <a:lnSpc>
                <a:spcPts val="4819"/>
              </a:lnSpc>
              <a:buFont typeface="Arial"/>
              <a:buChar char="•"/>
            </a:pPr>
            <a:r>
              <a:rPr lang="en-US" sz="3442" spc="-51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</a:t>
            </a:r>
            <a:r>
              <a:rPr lang="en-US" sz="3442" spc="-51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elecekteki araştırmalarda daha hassas sensörlerin kullanılması, mobil uygulama entegrasyonu, güneş enerjisi ile çalışma ve çoklu bitki izleme desteği eklenerek sistem daha gelişmiş hâle getirilebilir.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7AA3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D9E4D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10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6954500" cy="8953500"/>
            <a:chOff x="0" y="0"/>
            <a:chExt cx="4465383" cy="23581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65383" cy="2358124"/>
            </a:xfrm>
            <a:custGeom>
              <a:avLst/>
              <a:gdLst/>
              <a:ahLst/>
              <a:cxnLst/>
              <a:rect r="r" b="b" t="t" l="l"/>
              <a:pathLst>
                <a:path h="2358124" w="4465383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345E36"/>
            </a:soli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00225" y="1476375"/>
            <a:ext cx="1294447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00"/>
              </a:lnSpc>
            </a:pPr>
            <a:r>
              <a:rPr lang="en-US" sz="8000" spc="-240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Sınırlamalar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0225" y="4029843"/>
            <a:ext cx="14702027" cy="246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4687" spc="-70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4687" spc="-70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nalog sensörlerde zamanla kalibrasyon kaymaları olabilir. E-posta bildirimi internet bağlantısına bağımlıdır. Bazı sensörlerin hassasiyeti profesyonel cihazlara göre sınırlıdır.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77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4C774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09625"/>
            <a:ext cx="8221767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Proje Başarısının Genel Değerlendirmesi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6750" y="6146851"/>
            <a:ext cx="7925123" cy="347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27"/>
              </a:lnSpc>
            </a:pPr>
            <a:r>
              <a:rPr lang="en-US" sz="3876" spc="-58" strike="noStrike" u="none">
                <a:solidFill>
                  <a:srgbClr val="D9E4D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Proje, çevresel sensör verilerinin </a:t>
            </a:r>
            <a:r>
              <a:rPr lang="en-US" b="true" sz="3876" spc="-58" strike="noStrike" u="none">
                <a:solidFill>
                  <a:srgbClr val="D9E4D6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başarılı toplanması</a:t>
            </a:r>
            <a:r>
              <a:rPr lang="en-US" sz="3876" spc="-58" strike="noStrike" u="none">
                <a:solidFill>
                  <a:srgbClr val="D9E4D6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ve kritik durumlarda e-posta bildirimlerinin zamanında gönderilmesi ile güvenilir bir bitki izleme çözümü sunmaktadır.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E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3352800"/>
            <a:chOff x="0" y="0"/>
            <a:chExt cx="2368158" cy="8830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8158" cy="883042"/>
            </a:xfrm>
            <a:custGeom>
              <a:avLst/>
              <a:gdLst/>
              <a:ahLst/>
              <a:cxnLst/>
              <a:rect r="r" b="b" t="t" l="l"/>
              <a:pathLst>
                <a:path h="883042" w="2368158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7AA3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991600" y="0"/>
            <a:ext cx="9296400" cy="10287000"/>
            <a:chOff x="0" y="0"/>
            <a:chExt cx="1220873" cy="13509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0873" cy="1350966"/>
            </a:xfrm>
            <a:custGeom>
              <a:avLst/>
              <a:gdLst/>
              <a:ahLst/>
              <a:cxnLst/>
              <a:rect r="r" b="b" t="t" l="l"/>
              <a:pathLst>
                <a:path h="1350966" w="1220873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54333" y="536518"/>
            <a:ext cx="6886575" cy="3089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00"/>
              </a:lnSpc>
              <a:spcBef>
                <a:spcPct val="0"/>
              </a:spcBef>
            </a:pPr>
            <a:r>
              <a:rPr lang="en-US" sz="8000" strike="noStrike" u="none">
                <a:solidFill>
                  <a:srgbClr val="D9E4D6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Kaynakça: Akademik Referanslar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4333" y="4359275"/>
            <a:ext cx="8324850" cy="559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91"/>
              </a:lnSpc>
            </a:pPr>
            <a:r>
              <a:rPr lang="en-US" sz="2279" spc="-34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1]</a:t>
            </a:r>
            <a:r>
              <a:rPr lang="en-US" sz="2279" spc="-3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Atzori, L., Iera, A., &amp; Morabito, G. (2010). The Internet of Things: A survey. Computer Networks, 54(15), 2787–2805.</a:t>
            </a:r>
          </a:p>
          <a:p>
            <a:pPr algn="l" marL="0" indent="0" lvl="0">
              <a:lnSpc>
                <a:spcPts val="3191"/>
              </a:lnSpc>
            </a:pPr>
          </a:p>
          <a:p>
            <a:pPr algn="l" marL="0" indent="0" lvl="0">
              <a:lnSpc>
                <a:spcPts val="3191"/>
              </a:lnSpc>
            </a:pPr>
            <a:r>
              <a:rPr lang="en-US" sz="2279" spc="-3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[2] Ashton, K. (2009). That ‘Internet of Things’ Thing. RFID Journal, 12(5), 97–114.</a:t>
            </a:r>
          </a:p>
          <a:p>
            <a:pPr algn="l" marL="0" indent="0" lvl="0">
              <a:lnSpc>
                <a:spcPts val="3191"/>
              </a:lnSpc>
            </a:pPr>
          </a:p>
          <a:p>
            <a:pPr algn="l" marL="0" indent="0" lvl="0">
              <a:lnSpc>
                <a:spcPts val="3191"/>
              </a:lnSpc>
            </a:pPr>
            <a:r>
              <a:rPr lang="en-US" sz="2279" spc="-3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[3] NASA Plant Growth Department. (2017). Environmental Factors in Plant Development. NASA Publications, 1(1), 1–35.</a:t>
            </a:r>
          </a:p>
          <a:p>
            <a:pPr algn="l" marL="0" indent="0" lvl="0">
              <a:lnSpc>
                <a:spcPts val="3191"/>
              </a:lnSpc>
            </a:pPr>
          </a:p>
          <a:p>
            <a:pPr algn="l" marL="0" indent="0" lvl="0">
              <a:lnSpc>
                <a:spcPts val="3191"/>
              </a:lnSpc>
            </a:pPr>
            <a:r>
              <a:rPr lang="en-US" sz="2279" spc="-3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[4] Espressif Systems. (2020). ESP32 Technical Reference Manual. Espressif Inc., 2(3), 1–250.</a:t>
            </a:r>
          </a:p>
          <a:p>
            <a:pPr algn="l" marL="0" indent="0" lvl="0">
              <a:lnSpc>
                <a:spcPts val="3191"/>
              </a:lnSpc>
            </a:pPr>
          </a:p>
          <a:p>
            <a:pPr algn="l" marL="0" indent="0" lvl="0">
              <a:lnSpc>
                <a:spcPts val="3191"/>
              </a:lnSpc>
            </a:pPr>
            <a:r>
              <a:rPr lang="en-US" sz="2279" spc="-34" strike="noStrike" u="none">
                <a:solidFill>
                  <a:srgbClr val="FFFCF3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[5] Winsen Electronics. (2018). MQ-7 Carbon Monoxide Gas Sensor Datasheet. Winsen Sensor Corp., 1(1), 1–15.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4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7858125" cy="10287000"/>
            <a:chOff x="0" y="0"/>
            <a:chExt cx="1031988" cy="13509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1988" cy="1350966"/>
            </a:xfrm>
            <a:custGeom>
              <a:avLst/>
              <a:gdLst/>
              <a:ahLst/>
              <a:cxnLst/>
              <a:rect r="r" b="b" t="t" l="l"/>
              <a:pathLst>
                <a:path h="1350966" w="1031988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7AA37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52512" y="666750"/>
            <a:ext cx="5753100" cy="8953500"/>
            <a:chOff x="0" y="0"/>
            <a:chExt cx="814724" cy="12679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724" cy="1267949"/>
            </a:xfrm>
            <a:custGeom>
              <a:avLst/>
              <a:gdLst/>
              <a:ahLst/>
              <a:cxnLst/>
              <a:rect r="r" b="b" t="t" l="l"/>
              <a:pathLst>
                <a:path h="1267949" w="814724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76864" y="8686721"/>
            <a:ext cx="7915189" cy="61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0"/>
              </a:lnSpc>
            </a:pPr>
            <a:r>
              <a:rPr lang="en-US" sz="3800" spc="-57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Akıllı tarımın geleceği burada!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58864" y="1276350"/>
            <a:ext cx="9222902" cy="1889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025"/>
              </a:lnSpc>
            </a:pPr>
            <a:r>
              <a:rPr lang="en-US" sz="14025" spc="-490">
                <a:solidFill>
                  <a:srgbClr val="4C774D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Teşekkürler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52348" y="3582840"/>
            <a:ext cx="7794535" cy="177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4"/>
              </a:lnSpc>
            </a:pPr>
            <a:r>
              <a:rPr lang="en-US" sz="3649" spc="-54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Hazırlayan:</a:t>
            </a:r>
          </a:p>
          <a:p>
            <a:pPr algn="ctr">
              <a:lnSpc>
                <a:spcPts val="4744"/>
              </a:lnSpc>
            </a:pPr>
            <a:r>
              <a:rPr lang="en-US" sz="3649" spc="-54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Yasin TAŞPINAR</a:t>
            </a:r>
          </a:p>
          <a:p>
            <a:pPr algn="ctr" marL="0" indent="0" lvl="0">
              <a:lnSpc>
                <a:spcPts val="4744"/>
              </a:lnSpc>
            </a:pPr>
            <a:r>
              <a:rPr lang="en-US" sz="3649" spc="-54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19240000214@ogrenci.ege.edu.tr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3729" y="6139543"/>
            <a:ext cx="7794535" cy="1775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4"/>
              </a:lnSpc>
            </a:pPr>
            <a:r>
              <a:rPr lang="en-US" sz="3649" spc="-54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 Danışmanı:</a:t>
            </a:r>
          </a:p>
          <a:p>
            <a:pPr algn="ctr">
              <a:lnSpc>
                <a:spcPts val="4744"/>
              </a:lnSpc>
            </a:pPr>
            <a:r>
              <a:rPr lang="en-US" sz="3649" spc="-54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Dr. Öğr. Üyesi Mustafa Berkant SELEK</a:t>
            </a:r>
          </a:p>
          <a:p>
            <a:pPr algn="ctr" marL="0" indent="0" lvl="0">
              <a:lnSpc>
                <a:spcPts val="4744"/>
              </a:lnSpc>
            </a:pPr>
            <a:r>
              <a:rPr lang="en-US" sz="3649" spc="-54">
                <a:solidFill>
                  <a:srgbClr val="4C77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mustafa.berkant.selek@ege.edu.tr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Sunum - Akıllı Bitki Bakım Asistanı</dc:description>
  <dc:identifier>DAG6vBNoxsY</dc:identifier>
  <dcterms:modified xsi:type="dcterms:W3CDTF">2011-08-01T06:04:30Z</dcterms:modified>
  <cp:revision>1</cp:revision>
  <dc:title>Sunum - Akıllı Bitki Bakım Asistanı</dc:title>
</cp:coreProperties>
</file>